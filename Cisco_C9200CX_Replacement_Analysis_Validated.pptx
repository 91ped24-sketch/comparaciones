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F"/>
        </a:solidFill>
      </p:bgPr>
    </p:bg>
    <p:spTree>
      <p:nvGrpSpPr>
        <p:cNvPr id="1" name=""/>
        <p:cNvGrpSpPr/>
        <p:nvPr/>
      </p:nvGrpSpPr>
      <p:grpSpPr>
        <a:xfrm>
          <a:off x="0" y="0"/>
          <a:ext cx="0" cy="0"/>
          <a:chOff x="0" y="0"/>
          <a:chExt cx="0" cy="0"/>
        </a:xfrm>
      </p:grpSpPr>
      <p:sp>
        <p:nvSpPr>
          <p:cNvPr id="2" name="Text 0"/>
          <p:cNvSpPr/>
          <p:nvPr/>
        </p:nvSpPr>
        <p:spPr>
          <a:xfrm>
            <a:off x="731520" y="731520"/>
            <a:ext cx="10515600" cy="1828800"/>
          </a:xfrm>
          <a:prstGeom prst="rect">
            <a:avLst/>
          </a:prstGeom>
          <a:noFill/>
          <a:ln/>
        </p:spPr>
        <p:txBody>
          <a:bodyPr wrap="square" rtlCol="0" anchor="ctr"/>
          <a:lstStyle/>
          <a:p>
            <a:pPr indent="0" marL="0">
              <a:lnSpc>
                <a:spcPct val="120000"/>
              </a:lnSpc>
              <a:buNone/>
            </a:pPr>
            <a:r>
              <a:rPr lang="en-US" sz="3600" b="1" dirty="0">
                <a:solidFill>
                  <a:srgbClr val="FFFFFF"/>
                </a:solidFill>
                <a:latin typeface="Calibri" pitchFamily="34" charset="0"/>
                <a:ea typeface="Calibri" pitchFamily="34" charset="-122"/>
                <a:cs typeface="Calibri" pitchFamily="34" charset="-120"/>
              </a:rPr>
              <a:t>Cisco C9200CX-12P-2X2G-E</a:t>
            </a:r>
            <a:endParaRPr lang="en-US" sz="3600" dirty="0"/>
          </a:p>
          <a:p>
            <a:pPr indent="0" marL="0">
              <a:lnSpc>
                <a:spcPct val="120000"/>
              </a:lnSpc>
              <a:buNone/>
            </a:pPr>
            <a:r>
              <a:rPr lang="en-US" sz="3600" b="1" dirty="0">
                <a:solidFill>
                  <a:srgbClr val="FFFFFF"/>
                </a:solidFill>
                <a:latin typeface="Calibri" pitchFamily="34" charset="0"/>
                <a:ea typeface="Calibri" pitchFamily="34" charset="-122"/>
                <a:cs typeface="Calibri" pitchFamily="34" charset="-120"/>
              </a:rPr>
              <a:t>Replacement Analysis</a:t>
            </a:r>
            <a:endParaRPr lang="en-US" sz="3600" dirty="0"/>
          </a:p>
        </p:txBody>
      </p:sp>
      <p:sp>
        <p:nvSpPr>
          <p:cNvPr id="3" name="Shape 1"/>
          <p:cNvSpPr/>
          <p:nvPr/>
        </p:nvSpPr>
        <p:spPr>
          <a:xfrm>
            <a:off x="731520" y="2743200"/>
            <a:ext cx="4114800" cy="0"/>
          </a:xfrm>
          <a:prstGeom prst="line">
            <a:avLst/>
          </a:prstGeom>
          <a:noFill/>
          <a:ln w="12700">
            <a:solidFill>
              <a:srgbClr val="1B5FAA"/>
            </a:solidFill>
            <a:prstDash val="solid"/>
          </a:ln>
        </p:spPr>
      </p:sp>
      <p:sp>
        <p:nvSpPr>
          <p:cNvPr id="4" name="Text 2"/>
          <p:cNvSpPr/>
          <p:nvPr/>
        </p:nvSpPr>
        <p:spPr>
          <a:xfrm>
            <a:off x="731520" y="3017520"/>
            <a:ext cx="10515600" cy="548640"/>
          </a:xfrm>
          <a:prstGeom prst="rect">
            <a:avLst/>
          </a:prstGeom>
          <a:noFill/>
          <a:ln/>
        </p:spPr>
        <p:txBody>
          <a:bodyPr wrap="square" rtlCol="0" anchor="ctr"/>
          <a:lstStyle/>
          <a:p>
            <a:pPr indent="0" marL="0">
              <a:buNone/>
            </a:pPr>
            <a:r>
              <a:rPr lang="en-US" sz="2200" dirty="0">
                <a:solidFill>
                  <a:srgbClr val="94A3B8"/>
                </a:solidFill>
                <a:latin typeface="Calibri" pitchFamily="34" charset="0"/>
                <a:ea typeface="Calibri" pitchFamily="34" charset="-122"/>
                <a:cs typeface="Calibri" pitchFamily="34" charset="-120"/>
              </a:rPr>
              <a:t>Aruba CX 6000 vs. CX 6100 Comparison</a:t>
            </a:r>
            <a:endParaRPr lang="en-US" sz="2200" dirty="0"/>
          </a:p>
        </p:txBody>
      </p:sp>
      <p:sp>
        <p:nvSpPr>
          <p:cNvPr id="5" name="Text 3"/>
          <p:cNvSpPr/>
          <p:nvPr/>
        </p:nvSpPr>
        <p:spPr>
          <a:xfrm>
            <a:off x="731520" y="3840480"/>
            <a:ext cx="7315200" cy="822960"/>
          </a:xfrm>
          <a:prstGeom prst="rect">
            <a:avLst/>
          </a:prstGeom>
          <a:noFill/>
          <a:ln/>
        </p:spPr>
        <p:txBody>
          <a:bodyPr wrap="square" rtlCol="0" anchor="ctr"/>
          <a:lstStyle/>
          <a:p>
            <a:pPr indent="0" marL="0">
              <a:lnSpc>
                <a:spcPct val="140000"/>
              </a:lnSpc>
              <a:buNone/>
            </a:pPr>
            <a:r>
              <a:rPr lang="en-US" sz="1400" dirty="0">
                <a:solidFill>
                  <a:srgbClr val="94A3B8"/>
                </a:solidFill>
                <a:latin typeface="Calibri" pitchFamily="34" charset="0"/>
                <a:ea typeface="Calibri" pitchFamily="34" charset="-122"/>
                <a:cs typeface="Calibri" pitchFamily="34" charset="-120"/>
              </a:rPr>
              <a:t>Context: Marine Environment — Weight Optimization &amp; Performance Requirements</a:t>
            </a:r>
            <a:endParaRPr lang="en-US" sz="1400" dirty="0"/>
          </a:p>
          <a:p>
            <a:pPr indent="0" marL="0">
              <a:lnSpc>
                <a:spcPct val="140000"/>
              </a:lnSpc>
              <a:buNone/>
            </a:pPr>
            <a:r>
              <a:rPr lang="en-US" sz="1400" dirty="0">
                <a:solidFill>
                  <a:srgbClr val="94A3B8"/>
                </a:solidFill>
                <a:latin typeface="Calibri" pitchFamily="34" charset="0"/>
                <a:ea typeface="Calibri" pitchFamily="34" charset="-122"/>
                <a:cs typeface="Calibri" pitchFamily="34" charset="-120"/>
              </a:rPr>
              <a:t>Prepared For: Carnival — 2,000–2,500 Switches per Ship</a:t>
            </a:r>
            <a:endParaRPr lang="en-US" sz="1400" dirty="0"/>
          </a:p>
        </p:txBody>
      </p:sp>
      <p:sp>
        <p:nvSpPr>
          <p:cNvPr id="6" name="Shape 4"/>
          <p:cNvSpPr/>
          <p:nvPr/>
        </p:nvSpPr>
        <p:spPr>
          <a:xfrm>
            <a:off x="731520" y="5120640"/>
            <a:ext cx="4754880" cy="914400"/>
          </a:xfrm>
          <a:prstGeom prst="roundRect">
            <a:avLst>
              <a:gd name="adj" fmla="val 6000"/>
            </a:avLst>
          </a:prstGeom>
          <a:solidFill>
            <a:srgbClr val="14325A"/>
          </a:solidFill>
          <a:ln w="12700">
            <a:solidFill>
              <a:srgbClr val="1B5FAA"/>
            </a:solidFill>
            <a:prstDash val="solid"/>
          </a:ln>
        </p:spPr>
      </p:sp>
      <p:sp>
        <p:nvSpPr>
          <p:cNvPr id="7" name="Text 5"/>
          <p:cNvSpPr/>
          <p:nvPr/>
        </p:nvSpPr>
        <p:spPr>
          <a:xfrm>
            <a:off x="914400" y="5303520"/>
            <a:ext cx="4389120" cy="5486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Validated &amp; corrected against official vendor datasheets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March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Problem — Weight Escalation Across Generations</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Weight trend across Cisco compact switch generations</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1828800"/>
                <a:gridCol w="3931920"/>
                <a:gridCol w="2286000"/>
                <a:gridCol w="320040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Generation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Weight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Increase vs Baseline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Legacy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WS-C2960C-12PC-L / WS-C3560C-12PC-S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4.1 lb (1.86 kg)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Previous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3560CX-12PC-S / 12PD-S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5.1 lb (2.31 kg)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+24.4%</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Current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C9200CX-12P-2X2G-E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6.6 lb (2.99 kg)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+29.4% vs 3560CX / +61.0% vs 2960C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Shape 3"/>
          <p:cNvSpPr/>
          <p:nvPr/>
        </p:nvSpPr>
        <p:spPr>
          <a:xfrm>
            <a:off x="457200" y="347472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356616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Each Cisco generation added 24–30% weight; the C9200CX is now 61% heavier than the original 2960C baseline.</a:t>
            </a:r>
            <a:endParaRPr lang="en-US" sz="1400" dirty="0"/>
          </a:p>
        </p:txBody>
      </p:sp>
      <p:sp>
        <p:nvSpPr>
          <p:cNvPr id="8" name="Text 5"/>
          <p:cNvSpPr/>
          <p:nvPr/>
        </p:nvSpPr>
        <p:spPr>
          <a:xfrm>
            <a:off x="640080" y="391363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At 2,500 switches per ship, the current fleet carries 16,500 lb (8.25 tons) of switch weight alone.</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2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Executive Summary</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Corrected headline metrics from official vendor datasheets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377440"/>
                <a:gridCol w="2834640"/>
                <a:gridCol w="3017520"/>
                <a:gridCol w="301752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Cisco C9200CX-12P-2X2G-E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6100 (JL679A)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6000 (R8N89A)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Weight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6.6 lb (2.99 kg)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6.13 lb (2.78 kg)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6.17 lb (2.80 kg)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10G Uplinks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 2x 10G SFP+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 2x 1/10G SFP+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(1G SFP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PoE Budget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240W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139W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139W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Switching Capacity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68 Gbps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68 Gbps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32 Gbps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Forwarding Rate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50.59 Mpps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45.1 Mpps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23.8 Mpps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Weight Savings per Switch</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0.47 lb (7.1%)</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0.43 lb (6.5%)</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Fleet Savings (2,500 units)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1,175 lb (0.59 tons)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1,075 lb (0.54 tons)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Stacking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None (C9200CX cannot stack)</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VSF — up to 8 members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confirmed for this SKU</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512064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521208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Aruba CX 6100 matches Cisco on switching capacity (68 Gbps) and adds VSF stacking — a capability Cisco C9200CX lacks.</a:t>
            </a:r>
            <a:endParaRPr lang="en-US" sz="1400" dirty="0"/>
          </a:p>
        </p:txBody>
      </p:sp>
      <p:sp>
        <p:nvSpPr>
          <p:cNvPr id="8" name="Text 5"/>
          <p:cNvSpPr/>
          <p:nvPr/>
        </p:nvSpPr>
        <p:spPr>
          <a:xfrm>
            <a:off x="640080" y="555955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Cisco retains a decisive PoE advantage (240W vs 139W) that may disqualify Aruba if per-switch loads exceed 139W.</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3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Corrections vs. Original Deck</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Material errors found during vendor-source validation</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017520"/>
                <a:gridCol w="1097280"/>
                <a:gridCol w="7132320"/>
              </a:tblGrid>
              <a:tr h="50292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Original Claim</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Correction &amp; Source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502920">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Cisco C9200CX supports StackWise stacking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FALSE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Cisco datasheet: "Stacking not available on C9200CX switches." Only full-size C9200/C9200L support StackWise-160/80.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502920">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CX 6100 has no stacking capability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FALSE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HPE product page: CX 6100 supports "8-member VSF stacking for up to 384 downlink ports."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CX 6000 RAM = 512 MB / Flash = 256 MB</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DISPUTED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Librarian research found 4 GB DDR3 RAM and 16 GB eMMC flash for CX 6000 in secondary sources. Original deck data appears outdated or confused with older models.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502920">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Cisco C9200CX VLANs = 1,024</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FALSE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Cisco datasheet: C9200CX supports 4,094 VLAN IDs, same as full C9200 family.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60W UPOE per port on C9200CX-12P model</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MISLEADING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60W UPOE/802.3bt Class 6 applies to mGig models (C9200CX-8UXG). The 12P model supports 30W PoE+ per port.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502920">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Cisco competitive slide data = neutral fact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MISLEADING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Scale numbers from Cisco competitive slides (Slide 16) are Cisco marketing. Use datasheet values.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521208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530352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The stacking error is the most impactful: the original deck reversed which vendor supports stacking on these models.</a:t>
            </a:r>
            <a:endParaRPr lang="en-US" sz="1400" dirty="0"/>
          </a:p>
        </p:txBody>
      </p:sp>
      <p:sp>
        <p:nvSpPr>
          <p:cNvPr id="8" name="Text 5"/>
          <p:cNvSpPr/>
          <p:nvPr/>
        </p:nvSpPr>
        <p:spPr>
          <a:xfrm>
            <a:off x="640080" y="565099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Cisco competitive marketing data was used as neutral fact — always verify against official datasheets before decisions.</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4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Hardware Architecture Comparison</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Validated from vendor datasheets — corrections highlighted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1920240"/>
                <a:gridCol w="3017520"/>
                <a:gridCol w="3017520"/>
                <a:gridCol w="329184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Cisco C9200CX-12P-2X2G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6100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ASIC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UADP 2.0 Mini</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Dedicated ASIC (HPE)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Dedicated ASIC (HPE)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CPU</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4-Core ARM @ 375 MHz</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ARM Cortex A9 (freq 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ARM Cortex A9 (freq 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RAM</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4 GB DDR3</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4 GB DDR3</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4 GB DDR3 (corrected from 512 MB)</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Flash</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8 GB</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16 GB eMMC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16 GB eMMC (corrected from 256 MB)</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Packet Buffer</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6 MB</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12.38 MB</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Not specified in reviewed sources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MAC Table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32,000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8,192</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8,192</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VLANs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4,094 (corrected from 1,024)</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4,096</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4,096</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Form Factor</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Fanless, 1U compact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Fanless, 1U compact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Fanless, 1U compact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502920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512064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Cisco leads in MAC table scale (32K vs 8K) — important for large ship networks with thousands of endpoints.</a:t>
            </a:r>
            <a:endParaRPr lang="en-US" sz="1400" dirty="0"/>
          </a:p>
        </p:txBody>
      </p:sp>
      <p:sp>
        <p:nvSpPr>
          <p:cNvPr id="8" name="Text 5"/>
          <p:cNvSpPr/>
          <p:nvPr/>
        </p:nvSpPr>
        <p:spPr>
          <a:xfrm>
            <a:off x="640080" y="546811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Aruba CX 6100 offers 2x the packet buffer (12.38 MB vs 6 MB) — better burst-traffic absorption.</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5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PoE &amp; Power Comparison</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Critical for marine deployments with high-power PoE devices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194560"/>
                <a:gridCol w="3017520"/>
                <a:gridCol w="3017520"/>
                <a:gridCol w="301752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6100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PoE Standard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PoE+ (802.3at)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PoE+ (802.3at) Class 4</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PoE+ (802.3at) Class 4</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PoE Budget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240W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139W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139W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Max per Port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30W (PoE+)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30W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30W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UPOE / 802.3bt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Only on mGig models, not this 12P SKU</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Power Supply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Internal 315W AC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Internal 165W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Internal</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Perpetual PoE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(Fast PoE)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PoE Delta (vs Cisco)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101W less (∓42%)</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101W less (∓42%)</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Shape 3"/>
          <p:cNvSpPr/>
          <p:nvPr/>
        </p:nvSpPr>
        <p:spPr>
          <a:xfrm>
            <a:off x="457200" y="475488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484632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Cisco provides 72% more PoE budget (240W vs 139W) — verify actual per-switch load before selecting Aruba.</a:t>
            </a:r>
            <a:endParaRPr lang="en-US" sz="1400" dirty="0"/>
          </a:p>
        </p:txBody>
      </p:sp>
      <p:sp>
        <p:nvSpPr>
          <p:cNvPr id="8" name="Text 5"/>
          <p:cNvSpPr/>
          <p:nvPr/>
        </p:nvSpPr>
        <p:spPr>
          <a:xfrm>
            <a:off x="640080" y="519379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Perpetual PoE (Cisco exclusive) keeps powered devices alive during switch reboot — critical for IP phones and safety systems.</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6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Security Features Comparison</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377440"/>
                <a:gridCol w="3017520"/>
                <a:gridCol w="2926080"/>
                <a:gridCol w="292608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6100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MACsec (AES-256)</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(CX 6200+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Trustworthy Systems / Secure Boot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(Trust Anchor, SUDA)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TPM integrated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TPM integrated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DHCP Snooping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Not on CX 6000/6100 per AOS-CX guide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Not on CX 6000/6100 per AOS-CX guide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Dynamic ARP Inspection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Not confirmed in reviewed AOS-CX docs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IP Source Guard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Not confirmed in reviewed AOS-CX docs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802.1X Authentication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TACACS+ / RADIUS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ACL Scale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1,600 entries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256 IPv4 / 128 IPv6</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256 IPv4 / 128 IPv6</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SD-Access Fabric Edge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bl>
          </a:graphicData>
        </a:graphic>
      </p:graphicFrame>
      <p:sp>
        <p:nvSpPr>
          <p:cNvPr id="5" name="Shape 2"/>
          <p:cNvSpPr/>
          <p:nvPr/>
        </p:nvSpPr>
        <p:spPr>
          <a:xfrm>
            <a:off x="457200" y="5303520"/>
            <a:ext cx="11247120" cy="877824"/>
          </a:xfrm>
          <a:prstGeom prst="roundRect">
            <a:avLst>
              <a:gd name="adj" fmla="val 4167"/>
            </a:avLst>
          </a:prstGeom>
          <a:solidFill>
            <a:srgbClr val="F1F5F9"/>
          </a:solidFill>
          <a:ln w="12700">
            <a:solidFill>
              <a:srgbClr val="CBD5E1"/>
            </a:solidFill>
            <a:prstDash val="solid"/>
          </a:ln>
        </p:spPr>
      </p:sp>
      <p:sp>
        <p:nvSpPr>
          <p:cNvPr id="6" name="Text 3"/>
          <p:cNvSpPr/>
          <p:nvPr/>
        </p:nvSpPr>
        <p:spPr>
          <a:xfrm>
            <a:off x="640080" y="539496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Cisco is the only option if MACsec link-layer encryption or DHCP snooping / DAI are required for ship security.</a:t>
            </a:r>
            <a:endParaRPr lang="en-US" sz="1400" dirty="0"/>
          </a:p>
        </p:txBody>
      </p:sp>
      <p:sp>
        <p:nvSpPr>
          <p:cNvPr id="7" name="Text 4"/>
          <p:cNvSpPr/>
          <p:nvPr/>
        </p:nvSpPr>
        <p:spPr>
          <a:xfrm>
            <a:off x="640080" y="574243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Aruba CX 6000/6100 lack critical L2 security features — higher exposure to ARP spoofing and rogue DHCP attacks.</a:t>
            </a:r>
            <a:endParaRPr lang="en-US" sz="1400" dirty="0"/>
          </a:p>
        </p:txBody>
      </p:sp>
      <p:sp>
        <p:nvSpPr>
          <p:cNvPr id="8" name="Text 5"/>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7 of 18</a:t>
            </a:r>
            <a:endParaRPr lang="en-US" sz="800" dirty="0"/>
          </a:p>
        </p:txBody>
      </p:sp>
      <p:sp>
        <p:nvSpPr>
          <p:cNvPr id="9" name="Text 6"/>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0" name="Shape 7"/>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Software &amp; Management Comparison</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Stacking correction is the most impactful change from the original deck</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194560"/>
                <a:gridCol w="3108960"/>
                <a:gridCol w="2971800"/>
                <a:gridCol w="297180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6100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Operating System</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IOS XE (Lite)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AOS-CX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AOS-CX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Cloud Management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Cisco DNA Center / Meraki</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Central</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Central</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Stacking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None — C9200CX cannot stack</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VSF — up to 8 members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confirmed for this SKU</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Zero-Touch Provisioning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 (PnP)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 (ZTP)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 (ZTP)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Programmability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RESTCONF, NETCONF, YANG, gNMI</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REST API</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REST API</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Streaming Telemetry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(model-driven, gRPC)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SNMP + sFlow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SNMP + sFlow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NetFlow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Full Flexible NetFlow (16K flows)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sFlow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sFlow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Application Visibility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NBAR2 / AVC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Cold Patching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(reboot required)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Shape 3"/>
          <p:cNvSpPr/>
          <p:nvPr/>
        </p:nvSpPr>
        <p:spPr>
          <a:xfrm>
            <a:off x="457200" y="530352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539496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Aruba CX 6100 VSF stacking reduces 2,500 management entities to ~313 — a major operational advantage at fleet scale.</a:t>
            </a:r>
            <a:endParaRPr lang="en-US" sz="1400" dirty="0"/>
          </a:p>
        </p:txBody>
      </p:sp>
      <p:sp>
        <p:nvSpPr>
          <p:cNvPr id="8" name="Text 5"/>
          <p:cNvSpPr/>
          <p:nvPr/>
        </p:nvSpPr>
        <p:spPr>
          <a:xfrm>
            <a:off x="640080" y="574243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Cisco leads in programmability (YANG/gNMI/NetFlow) and application visibility (NBAR2) for advanced network analytics.</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8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L2 / L3 Protocol Support</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New slide — not present in original deck</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194560"/>
                <a:gridCol w="3017520"/>
                <a:gridCol w="3017520"/>
                <a:gridCol w="301752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Protocol</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6100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Static Routing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OSPF / OSPFv3</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 Layer 2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 Layer 2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EIGRP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IS-IS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RIPv2</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BGP (basic)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(from IOS-XE 17.13.1)</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IPv6 Dual Stack</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 (full)</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 (static IPv6)</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 (static IPv6)</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STP / RSTP / MSTP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IGMP Snooping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Link Aggregation (LAG)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548640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557784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If dynamic routing (OSPF/EIGRP) is needed for multi-deck topologies with automatic failover, Cisco is the only option.</a:t>
            </a:r>
            <a:endParaRPr lang="en-US" sz="1400" dirty="0"/>
          </a:p>
        </p:txBody>
      </p:sp>
      <p:sp>
        <p:nvSpPr>
          <p:cNvPr id="8" name="Text 5"/>
          <p:cNvSpPr/>
          <p:nvPr/>
        </p:nvSpPr>
        <p:spPr>
          <a:xfrm>
            <a:off x="640080" y="592531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Aruba CX 6000/6100 are Layer 2 switches with static routing only — routing must be handled by upstream devices.</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9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Reliability &amp; Environmental Specifications</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New slide — critical for marine deployment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377440"/>
                <a:gridCol w="3017520"/>
                <a:gridCol w="2926080"/>
                <a:gridCol w="292608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Criterion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6100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MTBF</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553,140–704,430 hrs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published — request from HPE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published — request from HPE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Predicted annual failure rate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~0.14% (derived)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Unknown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Unknown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Operating Temperature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−5 to 45°C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0 to 45°C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0 to 45°C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Humidity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5–90% non-condensing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5–90% non-condensing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5–90% non-condensing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Fanless Design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(12-port)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(12-port)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Marine Certification (IEC 60945 / DNV)</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Shock / Vibration (MIL-STD-167)</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Salt Spray (ASTM B117)</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Warranty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 year (standard)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Limited Lifetime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Limited Lifetime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Shape 3"/>
          <p:cNvSpPr/>
          <p:nvPr/>
        </p:nvSpPr>
        <p:spPr>
          <a:xfrm>
            <a:off x="457200" y="539496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548640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Cisco is the only vendor with published MTBF data (553K+ hours) — essential for fleet failure-rate planning.</a:t>
            </a:r>
            <a:endParaRPr lang="en-US" sz="1400" dirty="0"/>
          </a:p>
        </p:txBody>
      </p:sp>
      <p:sp>
        <p:nvSpPr>
          <p:cNvPr id="8" name="Text 5"/>
          <p:cNvSpPr/>
          <p:nvPr/>
        </p:nvSpPr>
        <p:spPr>
          <a:xfrm>
            <a:off x="640080" y="583387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No vendor provides marine certification for these models; pre-procurement environmental testing is mandatory.</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10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Telemetry &amp; Monitoring Capabilities</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New slide — operational visibility comparison</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377440"/>
                <a:gridCol w="3017520"/>
                <a:gridCol w="2926080"/>
                <a:gridCol w="292608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6100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SNMP v1/v2c/v3</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Flow Monitoring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Flexible NetFlow v9 / IPFIX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sFlow v5 (sampled)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sFlow v5 (sampled)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Streaming Telemetry (gRPC)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Yes — model-driven push</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 SNMP pull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 SNMP pull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YANG Data Models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OpenConfig + native YANG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NBAR2 / AVC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Application visibility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Port Mirroring / SPAN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Syslog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LLDP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75488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484632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Cisco enables real-time push telemetry (gRPC) for proactive anomaly detection at sea.</a:t>
            </a:r>
            <a:endParaRPr lang="en-US" sz="1400" dirty="0"/>
          </a:p>
        </p:txBody>
      </p:sp>
      <p:sp>
        <p:nvSpPr>
          <p:cNvPr id="8" name="Text 5"/>
          <p:cNvSpPr/>
          <p:nvPr/>
        </p:nvSpPr>
        <p:spPr>
          <a:xfrm>
            <a:off x="640080" y="519379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Aruba relies on SNMP polling (5–60s intervals) — adequate for basic health but not real-time ship diagnostics.</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11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Stacking &amp; Scale at 2,500 Switches per Ship</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Critical operational correction — original deck had this backwards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560320"/>
                <a:gridCol w="2926080"/>
                <a:gridCol w="2926080"/>
                <a:gridCol w="283464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Aspect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6100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Aruba CX 6000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Stacking Support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NONE on C9200CX compact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VSF — 8 members / stack</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Not confirmed for this SKU</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Management entities at 2,500 units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2,500 individual IPs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~313 VSF stacks (1 IP each)</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2,500 individual IPs (assumed)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Topology options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RSTP / MSTP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Chain or ring VSF topology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RSTP / MSTP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Centralized mgmt required?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Yes — DNA Center essential</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Central recommended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Central recommended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Ports per stack</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Up to 384 downlink ports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Shape 3"/>
          <p:cNvSpPr/>
          <p:nvPr/>
        </p:nvSpPr>
        <p:spPr>
          <a:xfrm>
            <a:off x="457200" y="402336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411480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CORRECTION: Original deck had stacking backwards — Aruba CX 6100 has VSF; Cisco C9200CX has no stacking.</a:t>
            </a:r>
            <a:endParaRPr lang="en-US" sz="1400" dirty="0"/>
          </a:p>
        </p:txBody>
      </p:sp>
      <p:sp>
        <p:nvSpPr>
          <p:cNvPr id="8" name="Text 5"/>
          <p:cNvSpPr/>
          <p:nvPr/>
        </p:nvSpPr>
        <p:spPr>
          <a:xfrm>
            <a:off x="640080" y="446227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At 2,500 switches, Aruba VSF reduces management entities by ~87% (2,500 → ~313 stacks).</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12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Weight Impact — Fleet-Wide Analysis</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560320"/>
                <a:gridCol w="1645920"/>
                <a:gridCol w="1645920"/>
                <a:gridCol w="2560320"/>
                <a:gridCol w="283464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Scenario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Switches / Ship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Weight / Switch</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Total per Ship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Savings vs Cisco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Cisco C9200CX (current)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6.60 lb</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16,500 lb (8.25 tons)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CX 6100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6.13 lb</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15,325 lb (7.66 tons)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1,175 lb (0.59 tons)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CX 6000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6.17 lb</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15,425 lb (7.71 tons)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1,075 lb (0.54 tons)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bl>
          </a:graphicData>
        </a:graphic>
      </p:graphicFrame>
      <p:sp>
        <p:nvSpPr>
          <p:cNvPr id="5" name="Shape 2"/>
          <p:cNvSpPr/>
          <p:nvPr/>
        </p:nvSpPr>
        <p:spPr>
          <a:xfrm>
            <a:off x="457200" y="3474720"/>
            <a:ext cx="11247120" cy="877824"/>
          </a:xfrm>
          <a:prstGeom prst="roundRect">
            <a:avLst>
              <a:gd name="adj" fmla="val 4167"/>
            </a:avLst>
          </a:prstGeom>
          <a:solidFill>
            <a:srgbClr val="F1F5F9"/>
          </a:solidFill>
          <a:ln w="12700">
            <a:solidFill>
              <a:srgbClr val="CBD5E1"/>
            </a:solidFill>
            <a:prstDash val="solid"/>
          </a:ln>
        </p:spPr>
      </p:sp>
      <p:sp>
        <p:nvSpPr>
          <p:cNvPr id="6" name="Text 3"/>
          <p:cNvSpPr/>
          <p:nvPr/>
        </p:nvSpPr>
        <p:spPr>
          <a:xfrm>
            <a:off x="640080" y="356616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Across a 10-ship fleet, Aruba CX 6100 saves approximately 5.9 tons of switch weight.</a:t>
            </a:r>
            <a:endParaRPr lang="en-US" sz="1400" dirty="0"/>
          </a:p>
        </p:txBody>
      </p:sp>
      <p:sp>
        <p:nvSpPr>
          <p:cNvPr id="7" name="Text 4"/>
          <p:cNvSpPr/>
          <p:nvPr/>
        </p:nvSpPr>
        <p:spPr>
          <a:xfrm>
            <a:off x="640080" y="391363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Weight savings are meaningful for fuel efficiency and structural load, but must be weighed against feature trade-offs.</a:t>
            </a:r>
            <a:endParaRPr lang="en-US" sz="1400" dirty="0"/>
          </a:p>
        </p:txBody>
      </p:sp>
      <p:sp>
        <p:nvSpPr>
          <p:cNvPr id="8" name="Text 5"/>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13 of 18</a:t>
            </a:r>
            <a:endParaRPr lang="en-US" sz="800" dirty="0"/>
          </a:p>
        </p:txBody>
      </p:sp>
      <p:sp>
        <p:nvSpPr>
          <p:cNvPr id="9" name="Text 6"/>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0" name="Shape 7"/>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Critical Limitations — Aruba CX 6000 (R8N89A)</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200400"/>
                <a:gridCol w="804672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Limitation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Impact for Marine Environment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10G Uplinks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Creates backbone bottleneck if existing infrastructure uses 10G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Dynamic ARP Inspection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Reduced security against ARP spoofing attacks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IP Source Guard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Reduced protection against IP address spoofing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DHCP Snooping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Cannot prevent rogue DHCP servers on the network</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MACsec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 link-layer encryption for sensitive marine data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NetFlow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 per-flow traffic visibility or forensics capability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32 Gbps switching capacity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Half the capacity of CX 6100 / Cisco — may bottleneck under load</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 dynamic routing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Static routing only — no automatic failover for multi-deck topologies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5120640"/>
            <a:ext cx="11247120" cy="877824"/>
          </a:xfrm>
          <a:prstGeom prst="roundRect">
            <a:avLst>
              <a:gd name="adj" fmla="val 4167"/>
            </a:avLst>
          </a:prstGeom>
          <a:solidFill>
            <a:srgbClr val="F1F5F9"/>
          </a:solidFill>
          <a:ln w="12700">
            <a:solidFill>
              <a:srgbClr val="CBD5E1"/>
            </a:solidFill>
            <a:prstDash val="solid"/>
          </a:ln>
        </p:spPr>
      </p:sp>
      <p:sp>
        <p:nvSpPr>
          <p:cNvPr id="6" name="Text 3"/>
          <p:cNvSpPr/>
          <p:nvPr/>
        </p:nvSpPr>
        <p:spPr>
          <a:xfrm>
            <a:off x="640080" y="521208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Aruba CX 6000 has the most limitations — only viable if the deployment requires basic 1G L2 access with no security features.</a:t>
            </a:r>
            <a:endParaRPr lang="en-US" sz="1400" dirty="0"/>
          </a:p>
        </p:txBody>
      </p:sp>
      <p:sp>
        <p:nvSpPr>
          <p:cNvPr id="7" name="Text 4"/>
          <p:cNvSpPr/>
          <p:nvPr/>
        </p:nvSpPr>
        <p:spPr>
          <a:xfrm>
            <a:off x="640080" y="555955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For ship environments needing 10G uplinks, encryption, or traffic forensics, the CX 6000 is not a candidate.</a:t>
            </a:r>
            <a:endParaRPr lang="en-US" sz="1400" dirty="0"/>
          </a:p>
        </p:txBody>
      </p:sp>
      <p:sp>
        <p:nvSpPr>
          <p:cNvPr id="8" name="Text 5"/>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14 of 18</a:t>
            </a:r>
            <a:endParaRPr lang="en-US" sz="800" dirty="0"/>
          </a:p>
        </p:txBody>
      </p:sp>
      <p:sp>
        <p:nvSpPr>
          <p:cNvPr id="9" name="Text 6"/>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0" name="Shape 7"/>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Critical Limitations — Aruba CX 6100 (JL679A)</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3474720"/>
                <a:gridCol w="777240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Limitation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Impact for Marine Environment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384048">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PoE Budget 139W (vs Cisco 240W)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101W less — may not support all connected high-power PoE devices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MACsec-256</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 link encryption for sensitive data between switches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No Perpetual / Fast PoE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PoE devices lose power during switch reboot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NetFlow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 per-flow traffic visibility; sFlow is sampled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Cold Patching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Requires full reboot for software updates (longer downtime)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NBAR2 / AVC</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 application-level visibility for troubleshooting</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B47D1B"/>
                          </a:solidFill>
                          <a:latin typeface="Calibri" pitchFamily="34" charset="0"/>
                          <a:ea typeface="Calibri" pitchFamily="34" charset="-122"/>
                          <a:cs typeface="Calibri" pitchFamily="34" charset="-120"/>
                        </a:rPr>
                        <a:t>8K MAC Table (vs Cisco 32K)</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May be limiting for extremely dense ship deployments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384048">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DHCP Snooping / DAI</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Limited L2 security — no rogue DHCP or ARP spoofing protection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VSF stacking (advantage)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Reduces management complexity for 2,500 switches — Cisco C9200CX cannot do this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bl>
          </a:graphicData>
        </a:graphic>
      </p:graphicFrame>
      <p:sp>
        <p:nvSpPr>
          <p:cNvPr id="5" name="Shape 2"/>
          <p:cNvSpPr/>
          <p:nvPr/>
        </p:nvSpPr>
        <p:spPr>
          <a:xfrm>
            <a:off x="457200" y="5486400"/>
            <a:ext cx="11247120" cy="877824"/>
          </a:xfrm>
          <a:prstGeom prst="roundRect">
            <a:avLst>
              <a:gd name="adj" fmla="val 4167"/>
            </a:avLst>
          </a:prstGeom>
          <a:solidFill>
            <a:srgbClr val="F1F5F9"/>
          </a:solidFill>
          <a:ln w="12700">
            <a:solidFill>
              <a:srgbClr val="CBD5E1"/>
            </a:solidFill>
            <a:prstDash val="solid"/>
          </a:ln>
        </p:spPr>
      </p:sp>
      <p:sp>
        <p:nvSpPr>
          <p:cNvPr id="6" name="Text 3"/>
          <p:cNvSpPr/>
          <p:nvPr/>
        </p:nvSpPr>
        <p:spPr>
          <a:xfrm>
            <a:off x="640080" y="557784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CX 6100 is the strongest Aruba replacement, but lacks MACsec, NetFlow, and DHCP snooping — evaluate risk per ship.</a:t>
            </a:r>
            <a:endParaRPr lang="en-US" sz="1400" dirty="0"/>
          </a:p>
        </p:txBody>
      </p:sp>
      <p:sp>
        <p:nvSpPr>
          <p:cNvPr id="7" name="Text 4"/>
          <p:cNvSpPr/>
          <p:nvPr/>
        </p:nvSpPr>
        <p:spPr>
          <a:xfrm>
            <a:off x="640080" y="592531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VSF stacking is its unique operational advantage over Cisco C9200CX at fleet scale.</a:t>
            </a:r>
            <a:endParaRPr lang="en-US" sz="1400" dirty="0"/>
          </a:p>
        </p:txBody>
      </p:sp>
      <p:sp>
        <p:nvSpPr>
          <p:cNvPr id="8" name="Text 5"/>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15 of 18</a:t>
            </a:r>
            <a:endParaRPr lang="en-US" sz="800" dirty="0"/>
          </a:p>
        </p:txBody>
      </p:sp>
      <p:sp>
        <p:nvSpPr>
          <p:cNvPr id="9" name="Text 6"/>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0" name="Shape 7"/>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Marine-Environment Decision Points</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Pre-procurement actions required regardless of vendor selection</a:t>
            </a:r>
            <a:endParaRPr lang="en-US" sz="1100" dirty="0"/>
          </a:p>
        </p:txBody>
      </p:sp>
      <p:sp>
        <p:nvSpPr>
          <p:cNvPr id="5" name="Text 3"/>
          <p:cNvSpPr/>
          <p:nvPr/>
        </p:nvSpPr>
        <p:spPr>
          <a:xfrm>
            <a:off x="548640" y="1325880"/>
            <a:ext cx="3291840" cy="384048"/>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Marine certification (IEC 60945 / DNV)</a:t>
            </a:r>
            <a:endParaRPr lang="en-US" sz="1400" dirty="0"/>
          </a:p>
        </p:txBody>
      </p:sp>
      <p:sp>
        <p:nvSpPr>
          <p:cNvPr id="6" name="Text 4"/>
          <p:cNvSpPr/>
          <p:nvPr/>
        </p:nvSpPr>
        <p:spPr>
          <a:xfrm>
            <a:off x="3840480" y="1325880"/>
            <a:ext cx="7772400" cy="384048"/>
          </a:xfrm>
          <a:prstGeom prst="rect">
            <a:avLst/>
          </a:prstGeom>
          <a:noFill/>
          <a:ln/>
        </p:spPr>
        <p:txBody>
          <a:bodyPr wrap="square" rtlCol="0" anchor="ctr"/>
          <a:lstStyle/>
          <a:p>
            <a:pPr indent="0" marL="0">
              <a:buNone/>
            </a:pPr>
            <a:r>
              <a:rPr lang="en-US" sz="1300" dirty="0">
                <a:solidFill>
                  <a:srgbClr val="475569"/>
                </a:solidFill>
                <a:latin typeface="Calibri" pitchFamily="34" charset="0"/>
                <a:ea typeface="Calibri" pitchFamily="34" charset="-122"/>
                <a:cs typeface="Calibri" pitchFamily="34" charset="-120"/>
              </a:rPr>
              <a:t>No reviewed source proved this for any of the three models. If compliance is mandatory, request written evidence or evaluate marine-grade alternatives (e.g., Moxa DNV-certified switches).</a:t>
            </a:r>
            <a:endParaRPr lang="en-US" sz="1300" dirty="0"/>
          </a:p>
        </p:txBody>
      </p:sp>
      <p:sp>
        <p:nvSpPr>
          <p:cNvPr id="7" name="Text 5"/>
          <p:cNvSpPr/>
          <p:nvPr/>
        </p:nvSpPr>
        <p:spPr>
          <a:xfrm>
            <a:off x="548640" y="1856232"/>
            <a:ext cx="3291840" cy="384048"/>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Salt fog / corrosion (ASTM B117)</a:t>
            </a:r>
            <a:endParaRPr lang="en-US" sz="1400" dirty="0"/>
          </a:p>
        </p:txBody>
      </p:sp>
      <p:sp>
        <p:nvSpPr>
          <p:cNvPr id="8" name="Text 6"/>
          <p:cNvSpPr/>
          <p:nvPr/>
        </p:nvSpPr>
        <p:spPr>
          <a:xfrm>
            <a:off x="3840480" y="1856232"/>
            <a:ext cx="7772400" cy="384048"/>
          </a:xfrm>
          <a:prstGeom prst="rect">
            <a:avLst/>
          </a:prstGeom>
          <a:noFill/>
          <a:ln/>
        </p:spPr>
        <p:txBody>
          <a:bodyPr wrap="square" rtlCol="0" anchor="ctr"/>
          <a:lstStyle/>
          <a:p>
            <a:pPr indent="0" marL="0">
              <a:buNone/>
            </a:pPr>
            <a:r>
              <a:rPr lang="en-US" sz="1300" dirty="0">
                <a:solidFill>
                  <a:srgbClr val="475569"/>
                </a:solidFill>
                <a:latin typeface="Calibri" pitchFamily="34" charset="0"/>
                <a:ea typeface="Calibri" pitchFamily="34" charset="-122"/>
                <a:cs typeface="Calibri" pitchFamily="34" charset="-120"/>
              </a:rPr>
              <a:t>Not published by Cisco or HPE for these models. Request conformal coating specs and salt-spray test reports.</a:t>
            </a:r>
            <a:endParaRPr lang="en-US" sz="1300" dirty="0"/>
          </a:p>
        </p:txBody>
      </p:sp>
      <p:sp>
        <p:nvSpPr>
          <p:cNvPr id="9" name="Text 7"/>
          <p:cNvSpPr/>
          <p:nvPr/>
        </p:nvSpPr>
        <p:spPr>
          <a:xfrm>
            <a:off x="548640" y="2386584"/>
            <a:ext cx="3291840" cy="384048"/>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Shock &amp; vibration (MIL-STD-167)</a:t>
            </a:r>
            <a:endParaRPr lang="en-US" sz="1400" dirty="0"/>
          </a:p>
        </p:txBody>
      </p:sp>
      <p:sp>
        <p:nvSpPr>
          <p:cNvPr id="10" name="Text 8"/>
          <p:cNvSpPr/>
          <p:nvPr/>
        </p:nvSpPr>
        <p:spPr>
          <a:xfrm>
            <a:off x="3840480" y="2386584"/>
            <a:ext cx="7772400" cy="384048"/>
          </a:xfrm>
          <a:prstGeom prst="rect">
            <a:avLst/>
          </a:prstGeom>
          <a:noFill/>
          <a:ln/>
        </p:spPr>
        <p:txBody>
          <a:bodyPr wrap="square" rtlCol="0" anchor="ctr"/>
          <a:lstStyle/>
          <a:p>
            <a:pPr indent="0" marL="0">
              <a:buNone/>
            </a:pPr>
            <a:r>
              <a:rPr lang="en-US" sz="1300" dirty="0">
                <a:solidFill>
                  <a:srgbClr val="475569"/>
                </a:solidFill>
                <a:latin typeface="Calibri" pitchFamily="34" charset="0"/>
                <a:ea typeface="Calibri" pitchFamily="34" charset="-122"/>
                <a:cs typeface="Calibri" pitchFamily="34" charset="-120"/>
              </a:rPr>
              <a:t>Shipboard vibration (5–13 Hz) not addressed in any reviewed datasheet. Request test reports from both vendors.</a:t>
            </a:r>
            <a:endParaRPr lang="en-US" sz="1300" dirty="0"/>
          </a:p>
        </p:txBody>
      </p:sp>
      <p:sp>
        <p:nvSpPr>
          <p:cNvPr id="11" name="Text 9"/>
          <p:cNvSpPr/>
          <p:nvPr/>
        </p:nvSpPr>
        <p:spPr>
          <a:xfrm>
            <a:off x="548640" y="2916936"/>
            <a:ext cx="3291840" cy="384048"/>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MTBF for fleet planning</a:t>
            </a:r>
            <a:endParaRPr lang="en-US" sz="1400" dirty="0"/>
          </a:p>
        </p:txBody>
      </p:sp>
      <p:sp>
        <p:nvSpPr>
          <p:cNvPr id="12" name="Text 10"/>
          <p:cNvSpPr/>
          <p:nvPr/>
        </p:nvSpPr>
        <p:spPr>
          <a:xfrm>
            <a:off x="3840480" y="2916936"/>
            <a:ext cx="7772400" cy="384048"/>
          </a:xfrm>
          <a:prstGeom prst="rect">
            <a:avLst/>
          </a:prstGeom>
          <a:noFill/>
          <a:ln/>
        </p:spPr>
        <p:txBody>
          <a:bodyPr wrap="square" rtlCol="0" anchor="ctr"/>
          <a:lstStyle/>
          <a:p>
            <a:pPr indent="0" marL="0">
              <a:buNone/>
            </a:pPr>
            <a:r>
              <a:rPr lang="en-US" sz="1300" dirty="0">
                <a:solidFill>
                  <a:srgbClr val="475569"/>
                </a:solidFill>
                <a:latin typeface="Calibri" pitchFamily="34" charset="0"/>
                <a:ea typeface="Calibri" pitchFamily="34" charset="-122"/>
                <a:cs typeface="Calibri" pitchFamily="34" charset="-120"/>
              </a:rPr>
              <a:t>Cisco publishes 553K–704K hours. HPE does not publish MTBF for CX 6000/6100 — request from HPE support.</a:t>
            </a:r>
            <a:endParaRPr lang="en-US" sz="1300" dirty="0"/>
          </a:p>
        </p:txBody>
      </p:sp>
      <p:sp>
        <p:nvSpPr>
          <p:cNvPr id="13" name="Text 11"/>
          <p:cNvSpPr/>
          <p:nvPr/>
        </p:nvSpPr>
        <p:spPr>
          <a:xfrm>
            <a:off x="548640" y="3447288"/>
            <a:ext cx="3291840" cy="384048"/>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Connector corrosion</a:t>
            </a:r>
            <a:endParaRPr lang="en-US" sz="1400" dirty="0"/>
          </a:p>
        </p:txBody>
      </p:sp>
      <p:sp>
        <p:nvSpPr>
          <p:cNvPr id="14" name="Text 12"/>
          <p:cNvSpPr/>
          <p:nvPr/>
        </p:nvSpPr>
        <p:spPr>
          <a:xfrm>
            <a:off x="3840480" y="3447288"/>
            <a:ext cx="7772400" cy="384048"/>
          </a:xfrm>
          <a:prstGeom prst="rect">
            <a:avLst/>
          </a:prstGeom>
          <a:noFill/>
          <a:ln/>
        </p:spPr>
        <p:txBody>
          <a:bodyPr wrap="square" rtlCol="0" anchor="ctr"/>
          <a:lstStyle/>
          <a:p>
            <a:pPr indent="0" marL="0">
              <a:buNone/>
            </a:pPr>
            <a:r>
              <a:rPr lang="en-US" sz="1300" dirty="0">
                <a:solidFill>
                  <a:srgbClr val="475569"/>
                </a:solidFill>
                <a:latin typeface="Calibri" pitchFamily="34" charset="0"/>
                <a:ea typeface="Calibri" pitchFamily="34" charset="-122"/>
                <a:cs typeface="Calibri" pitchFamily="34" charset="-120"/>
              </a:rPr>
              <a:t>No vendor specifies gold-plated or stainless connectors. Verify materials for marine air exposure.</a:t>
            </a:r>
            <a:endParaRPr lang="en-US" sz="1300" dirty="0"/>
          </a:p>
        </p:txBody>
      </p:sp>
      <p:sp>
        <p:nvSpPr>
          <p:cNvPr id="15" name="Text 13"/>
          <p:cNvSpPr/>
          <p:nvPr/>
        </p:nvSpPr>
        <p:spPr>
          <a:xfrm>
            <a:off x="548640" y="3977640"/>
            <a:ext cx="3291840" cy="384048"/>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Spare parts strategy</a:t>
            </a:r>
            <a:endParaRPr lang="en-US" sz="1400" dirty="0"/>
          </a:p>
        </p:txBody>
      </p:sp>
      <p:sp>
        <p:nvSpPr>
          <p:cNvPr id="16" name="Text 14"/>
          <p:cNvSpPr/>
          <p:nvPr/>
        </p:nvSpPr>
        <p:spPr>
          <a:xfrm>
            <a:off x="3840480" y="3977640"/>
            <a:ext cx="7772400" cy="384048"/>
          </a:xfrm>
          <a:prstGeom prst="rect">
            <a:avLst/>
          </a:prstGeom>
          <a:noFill/>
          <a:ln/>
        </p:spPr>
        <p:txBody>
          <a:bodyPr wrap="square" rtlCol="0" anchor="ctr"/>
          <a:lstStyle/>
          <a:p>
            <a:pPr indent="0" marL="0">
              <a:buNone/>
            </a:pPr>
            <a:r>
              <a:rPr lang="en-US" sz="1300" dirty="0">
                <a:solidFill>
                  <a:srgbClr val="475569"/>
                </a:solidFill>
                <a:latin typeface="Calibri" pitchFamily="34" charset="0"/>
                <a:ea typeface="Calibri" pitchFamily="34" charset="-122"/>
                <a:cs typeface="Calibri" pitchFamily="34" charset="-120"/>
              </a:rPr>
              <a:t>At 2,500 units/ship, recommend 5–10% spares (125–250 units) regardless of vendor.</a:t>
            </a:r>
            <a:endParaRPr lang="en-US" sz="1300" dirty="0"/>
          </a:p>
        </p:txBody>
      </p:sp>
      <p:sp>
        <p:nvSpPr>
          <p:cNvPr id="17" name="Shape 15"/>
          <p:cNvSpPr/>
          <p:nvPr/>
        </p:nvSpPr>
        <p:spPr>
          <a:xfrm>
            <a:off x="457200" y="4754880"/>
            <a:ext cx="11247120" cy="877824"/>
          </a:xfrm>
          <a:prstGeom prst="roundRect">
            <a:avLst>
              <a:gd name="adj" fmla="val 4167"/>
            </a:avLst>
          </a:prstGeom>
          <a:solidFill>
            <a:srgbClr val="F1F5F9"/>
          </a:solidFill>
          <a:ln w="12700">
            <a:solidFill>
              <a:srgbClr val="CBD5E1"/>
            </a:solidFill>
            <a:prstDash val="solid"/>
          </a:ln>
        </p:spPr>
      </p:sp>
      <p:sp>
        <p:nvSpPr>
          <p:cNvPr id="18" name="Text 16"/>
          <p:cNvSpPr/>
          <p:nvPr/>
        </p:nvSpPr>
        <p:spPr>
          <a:xfrm>
            <a:off x="640080" y="484632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None of the three switches are proven marine-certified — this is the single biggest open risk for Carnival.</a:t>
            </a:r>
            <a:endParaRPr lang="en-US" sz="1400" dirty="0"/>
          </a:p>
        </p:txBody>
      </p:sp>
      <p:sp>
        <p:nvSpPr>
          <p:cNvPr id="19" name="Text 17"/>
          <p:cNvSpPr/>
          <p:nvPr/>
        </p:nvSpPr>
        <p:spPr>
          <a:xfrm>
            <a:off x="640080" y="519379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ACTION: Request written vendor evidence for vibration, corrosion, humidity, MTBF, and conformal coating before procurement.</a:t>
            </a:r>
            <a:endParaRPr lang="en-US" sz="1400" dirty="0"/>
          </a:p>
        </p:txBody>
      </p:sp>
      <p:sp>
        <p:nvSpPr>
          <p:cNvPr id="20" name="Text 18"/>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16 of 18</a:t>
            </a:r>
            <a:endParaRPr lang="en-US" sz="800" dirty="0"/>
          </a:p>
        </p:txBody>
      </p:sp>
      <p:sp>
        <p:nvSpPr>
          <p:cNvPr id="21" name="Text 19"/>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22" name="Shape 20"/>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 Matrix</a:t>
            </a:r>
            <a:endParaRPr lang="en-US" sz="2400" dirty="0"/>
          </a:p>
        </p:txBody>
      </p:sp>
      <p:sp>
        <p:nvSpPr>
          <p:cNvPr id="4" name="Text 2"/>
          <p:cNvSpPr/>
          <p:nvPr/>
        </p:nvSpPr>
        <p:spPr>
          <a:xfrm>
            <a:off x="548640" y="658368"/>
            <a:ext cx="10515600" cy="274320"/>
          </a:xfrm>
          <a:prstGeom prst="rect">
            <a:avLst/>
          </a:prstGeom>
          <a:noFill/>
          <a:ln/>
        </p:spPr>
        <p:txBody>
          <a:bodyPr wrap="square"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Neutral recommendation after all corrections applied</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914400"/>
        </p:xfrm>
        <a:graphic>
          <a:graphicData uri="http://schemas.openxmlformats.org/drawingml/2006/table">
            <a:tbl>
              <a:tblPr/>
              <a:tblGrid>
                <a:gridCol w="2926080"/>
                <a:gridCol w="2560320"/>
                <a:gridCol w="5760720"/>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Scenario</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Recommended Switch</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Rationale</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B1F3F"/>
                    </a:solidFill>
                  </a:tcPr>
                </a:tc>
              </a:tr>
              <a:tr h="402336">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Need 10G uplinks + PoE ≤ 139W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Aruba CX 6100 (JL679A)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Retains 10G, lighter weight, VSF stacking. Verify PoE load first.</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402336">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Need 10G uplinks + PoE &gt; 139W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Stay with 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cannot meet PoE requirements. No alternative in this comparison.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 10G requirement + PoE ≤ 139W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CX 6000 (R8N89A)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Lower cost, fanless, meets basic L2 access needs.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402336">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Need MACsec encryption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Stay with 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CX 6000/6100 do not support MACsec (requires CX 6200+).</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Need NetFlow / deep visibility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Stay with 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offers sFlow only (sampled, not per-flow).</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402336">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Need dynamic routing (OSPF/EIGRP)</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E293B"/>
                          </a:solidFill>
                          <a:latin typeface="Calibri" pitchFamily="34" charset="0"/>
                          <a:ea typeface="Calibri" pitchFamily="34" charset="-122"/>
                          <a:cs typeface="Calibri" pitchFamily="34" charset="-120"/>
                        </a:rPr>
                        <a:t>Stay with Cisco C9200CX</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Aruba CX 6000/6100 are Layer 2 + static routing only.</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Need stacking / management consolidation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Aruba CX 6100 (JL679A)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CX 6100 supports 8-member VSF. Cisco C9200CX CANNOT stack.</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r h="402336">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Need maximum weight reduction</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b="1" dirty="0">
                          <a:solidFill>
                            <a:srgbClr val="16824A"/>
                          </a:solidFill>
                          <a:latin typeface="Calibri" pitchFamily="34" charset="0"/>
                          <a:ea typeface="Calibri" pitchFamily="34" charset="-122"/>
                          <a:cs typeface="Calibri" pitchFamily="34" charset="-120"/>
                        </a:rPr>
                        <a:t>Aruba CX 6100 (JL679A)</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Lightest 10G-capable option: 0.47 lb/switch savings.</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Need marine-certified platform</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b="1" dirty="0">
                          <a:solidFill>
                            <a:srgbClr val="B91C1C"/>
                          </a:solidFill>
                          <a:latin typeface="Calibri" pitchFamily="34" charset="0"/>
                          <a:ea typeface="Calibri" pitchFamily="34" charset="-122"/>
                          <a:cs typeface="Calibri" pitchFamily="34" charset="-120"/>
                        </a:rPr>
                        <a:t>No validated winner</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 reviewed source proved marine certification for any model.</a:t>
                      </a:r>
                      <a:endParaRPr lang="en-US" sz="1400" dirty="0">
                        <a:latin typeface="Calibri" charset="0"/>
                        <a:ea typeface="Calibri" charset="0"/>
                        <a:cs typeface="Calibri" charset="0"/>
                      </a:endParaRPr>
                    </a:p>
                  </a:txBody>
                  <a:tcPr marL="73152" marR="73152" marT="36576" marB="36576"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8FAFC"/>
                    </a:solidFill>
                  </a:tcPr>
                </a:tc>
              </a:tr>
            </a:tbl>
          </a:graphicData>
        </a:graphic>
      </p:graphicFrame>
      <p:sp>
        <p:nvSpPr>
          <p:cNvPr id="6" name="Shape 3"/>
          <p:cNvSpPr/>
          <p:nvPr/>
        </p:nvSpPr>
        <p:spPr>
          <a:xfrm>
            <a:off x="457200" y="5303520"/>
            <a:ext cx="11247120" cy="877824"/>
          </a:xfrm>
          <a:prstGeom prst="roundRect">
            <a:avLst>
              <a:gd name="adj" fmla="val 4167"/>
            </a:avLst>
          </a:prstGeom>
          <a:solidFill>
            <a:srgbClr val="F1F5F9"/>
          </a:solidFill>
          <a:ln w="12700">
            <a:solidFill>
              <a:srgbClr val="CBD5E1"/>
            </a:solidFill>
            <a:prstDash val="solid"/>
          </a:ln>
        </p:spPr>
      </p:sp>
      <p:sp>
        <p:nvSpPr>
          <p:cNvPr id="7" name="Text 4"/>
          <p:cNvSpPr/>
          <p:nvPr/>
        </p:nvSpPr>
        <p:spPr>
          <a:xfrm>
            <a:off x="640080" y="5394960"/>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Aruba CX 6100 wins on weight and stacking; Cisco C9200CX wins on PoE, security, routing, and telemetry.</a:t>
            </a:r>
            <a:endParaRPr lang="en-US" sz="1400" dirty="0"/>
          </a:p>
        </p:txBody>
      </p:sp>
      <p:sp>
        <p:nvSpPr>
          <p:cNvPr id="8" name="Text 5"/>
          <p:cNvSpPr/>
          <p:nvPr/>
        </p:nvSpPr>
        <p:spPr>
          <a:xfrm>
            <a:off x="640080" y="5742432"/>
            <a:ext cx="10881360" cy="329184"/>
          </a:xfrm>
          <a:prstGeom prst="rect">
            <a:avLst/>
          </a:prstGeom>
          <a:noFill/>
          <a:ln/>
        </p:spPr>
        <p:txBody>
          <a:bodyPr wrap="square" rtlCol="0" anchor="ctr"/>
          <a:lstStyle/>
          <a:p>
            <a:pPr indent="0" marL="0">
              <a:buNone/>
            </a:pPr>
            <a:r>
              <a:rPr lang="en-US" sz="1400" b="1" dirty="0">
                <a:solidFill>
                  <a:srgbClr val="1B5FAA"/>
                </a:solidFill>
                <a:latin typeface="Calibri" pitchFamily="34" charset="0"/>
                <a:ea typeface="Calibri" pitchFamily="34" charset="-122"/>
                <a:cs typeface="Calibri" pitchFamily="34" charset="-120"/>
              </a:rPr>
              <a:t>▶  </a:t>
            </a:r>
            <a:pPr indent="0" marL="0">
              <a:buNone/>
            </a:pPr>
            <a:r>
              <a:rPr lang="en-US" sz="1400" dirty="0">
                <a:solidFill>
                  <a:srgbClr val="1E293B"/>
                </a:solidFill>
                <a:latin typeface="Calibri" pitchFamily="34" charset="0"/>
                <a:ea typeface="Calibri" pitchFamily="34" charset="-122"/>
                <a:cs typeface="Calibri" pitchFamily="34" charset="-120"/>
              </a:rPr>
              <a:t>The right choice depends on which trade-offs Carnival prioritizes — weight savings vs. feature depth.</a:t>
            </a:r>
            <a:endParaRPr lang="en-US" sz="1400" dirty="0"/>
          </a:p>
        </p:txBody>
      </p:sp>
      <p:sp>
        <p:nvSpPr>
          <p:cNvPr id="9" name="Text 6"/>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17 of 18</a:t>
            </a:r>
            <a:endParaRPr lang="en-US" sz="800" dirty="0"/>
          </a:p>
        </p:txBody>
      </p:sp>
      <p:sp>
        <p:nvSpPr>
          <p:cNvPr id="10" name="Text 7"/>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11" name="Shape 8"/>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0B1F3F"/>
          </a:solidFill>
          <a:ln/>
        </p:spPr>
      </p:sp>
      <p:sp>
        <p:nvSpPr>
          <p:cNvPr id="3" name="Text 1"/>
          <p:cNvSpPr/>
          <p:nvPr/>
        </p:nvSpPr>
        <p:spPr>
          <a:xfrm>
            <a:off x="548640" y="137160"/>
            <a:ext cx="10515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Sources &amp; Methodology</a:t>
            </a:r>
            <a:endParaRPr lang="en-US" sz="2400" dirty="0"/>
          </a:p>
        </p:txBody>
      </p:sp>
      <p:sp>
        <p:nvSpPr>
          <p:cNvPr id="4" name="Text 2"/>
          <p:cNvSpPr/>
          <p:nvPr/>
        </p:nvSpPr>
        <p:spPr>
          <a:xfrm>
            <a:off x="548640" y="1325880"/>
            <a:ext cx="3657600" cy="320040"/>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Cisco Catalyst 9200 Series Data Sheet</a:t>
            </a:r>
            <a:endParaRPr lang="en-US" sz="1400" dirty="0"/>
          </a:p>
        </p:txBody>
      </p:sp>
      <p:sp>
        <p:nvSpPr>
          <p:cNvPr id="5" name="Text 3"/>
          <p:cNvSpPr/>
          <p:nvPr/>
        </p:nvSpPr>
        <p:spPr>
          <a:xfrm>
            <a:off x="4206240" y="1325880"/>
            <a:ext cx="7498080" cy="320040"/>
          </a:xfrm>
          <a:prstGeom prst="rect">
            <a:avLst/>
          </a:prstGeom>
          <a:noFill/>
          <a:ln/>
        </p:spPr>
        <p:txBody>
          <a:bodyPr wrap="square" rtlCol="0" anchor="ctr"/>
          <a:lstStyle/>
          <a:p>
            <a:pPr indent="0" marL="0">
              <a:buNone/>
            </a:pPr>
            <a:r>
              <a:rPr lang="en-US" sz="1200" dirty="0">
                <a:solidFill>
                  <a:srgbClr val="1B5FAA"/>
                </a:solidFill>
                <a:latin typeface="Calibri" pitchFamily="34" charset="0"/>
                <a:ea typeface="Calibri" pitchFamily="34" charset="-122"/>
                <a:cs typeface="Calibri" pitchFamily="34" charset="-120"/>
              </a:rPr>
              <a:t>cisco.com/c/en/us/products/collateral/switches/catalyst-9200-series-switches/nb-06-cat9200-ser-data-sheet-cte-en.html</a:t>
            </a:r>
            <a:endParaRPr lang="en-US" sz="1200" dirty="0"/>
          </a:p>
        </p:txBody>
      </p:sp>
      <p:sp>
        <p:nvSpPr>
          <p:cNvPr id="6" name="Text 4"/>
          <p:cNvSpPr/>
          <p:nvPr/>
        </p:nvSpPr>
        <p:spPr>
          <a:xfrm>
            <a:off x="548640" y="1709928"/>
            <a:ext cx="3657600" cy="320040"/>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HPE Aruba CX 6100 Product Page</a:t>
            </a:r>
            <a:endParaRPr lang="en-US" sz="1400" dirty="0"/>
          </a:p>
        </p:txBody>
      </p:sp>
      <p:sp>
        <p:nvSpPr>
          <p:cNvPr id="7" name="Text 5"/>
          <p:cNvSpPr/>
          <p:nvPr/>
        </p:nvSpPr>
        <p:spPr>
          <a:xfrm>
            <a:off x="4206240" y="1709928"/>
            <a:ext cx="7498080" cy="320040"/>
          </a:xfrm>
          <a:prstGeom prst="rect">
            <a:avLst/>
          </a:prstGeom>
          <a:noFill/>
          <a:ln/>
        </p:spPr>
        <p:txBody>
          <a:bodyPr wrap="square" rtlCol="0" anchor="ctr"/>
          <a:lstStyle/>
          <a:p>
            <a:pPr indent="0" marL="0">
              <a:buNone/>
            </a:pPr>
            <a:r>
              <a:rPr lang="en-US" sz="1200" dirty="0">
                <a:solidFill>
                  <a:srgbClr val="1B5FAA"/>
                </a:solidFill>
                <a:latin typeface="Calibri" pitchFamily="34" charset="0"/>
                <a:ea typeface="Calibri" pitchFamily="34" charset="-122"/>
                <a:cs typeface="Calibri" pitchFamily="34" charset="-120"/>
              </a:rPr>
              <a:t>buy.hpe.com/us/en/.../jl679a</a:t>
            </a:r>
            <a:endParaRPr lang="en-US" sz="1200" dirty="0"/>
          </a:p>
        </p:txBody>
      </p:sp>
      <p:sp>
        <p:nvSpPr>
          <p:cNvPr id="8" name="Text 6"/>
          <p:cNvSpPr/>
          <p:nvPr/>
        </p:nvSpPr>
        <p:spPr>
          <a:xfrm>
            <a:off x="548640" y="2093976"/>
            <a:ext cx="3657600" cy="320040"/>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HPE Aruba CX 6000 Product Page</a:t>
            </a:r>
            <a:endParaRPr lang="en-US" sz="1400" dirty="0"/>
          </a:p>
        </p:txBody>
      </p:sp>
      <p:sp>
        <p:nvSpPr>
          <p:cNvPr id="9" name="Text 7"/>
          <p:cNvSpPr/>
          <p:nvPr/>
        </p:nvSpPr>
        <p:spPr>
          <a:xfrm>
            <a:off x="4206240" y="2093976"/>
            <a:ext cx="7498080" cy="320040"/>
          </a:xfrm>
          <a:prstGeom prst="rect">
            <a:avLst/>
          </a:prstGeom>
          <a:noFill/>
          <a:ln/>
        </p:spPr>
        <p:txBody>
          <a:bodyPr wrap="square" rtlCol="0" anchor="ctr"/>
          <a:lstStyle/>
          <a:p>
            <a:pPr indent="0" marL="0">
              <a:buNone/>
            </a:pPr>
            <a:r>
              <a:rPr lang="en-US" sz="1200" dirty="0">
                <a:solidFill>
                  <a:srgbClr val="1B5FAA"/>
                </a:solidFill>
                <a:latin typeface="Calibri" pitchFamily="34" charset="0"/>
                <a:ea typeface="Calibri" pitchFamily="34" charset="-122"/>
                <a:cs typeface="Calibri" pitchFamily="34" charset="-120"/>
              </a:rPr>
              <a:t>buy.hpe.com/us/en/.../r8n89a</a:t>
            </a:r>
            <a:endParaRPr lang="en-US" sz="1200" dirty="0"/>
          </a:p>
        </p:txBody>
      </p:sp>
      <p:sp>
        <p:nvSpPr>
          <p:cNvPr id="10" name="Text 8"/>
          <p:cNvSpPr/>
          <p:nvPr/>
        </p:nvSpPr>
        <p:spPr>
          <a:xfrm>
            <a:off x="548640" y="2478024"/>
            <a:ext cx="3657600" cy="320040"/>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HPE Aruba CX 6100 Data Sheet</a:t>
            </a:r>
            <a:endParaRPr lang="en-US" sz="1400" dirty="0"/>
          </a:p>
        </p:txBody>
      </p:sp>
      <p:sp>
        <p:nvSpPr>
          <p:cNvPr id="11" name="Text 9"/>
          <p:cNvSpPr/>
          <p:nvPr/>
        </p:nvSpPr>
        <p:spPr>
          <a:xfrm>
            <a:off x="4206240" y="2478024"/>
            <a:ext cx="7498080" cy="320040"/>
          </a:xfrm>
          <a:prstGeom prst="rect">
            <a:avLst/>
          </a:prstGeom>
          <a:noFill/>
          <a:ln/>
        </p:spPr>
        <p:txBody>
          <a:bodyPr wrap="square" rtlCol="0" anchor="ctr"/>
          <a:lstStyle/>
          <a:p>
            <a:pPr indent="0" marL="0">
              <a:buNone/>
            </a:pPr>
            <a:r>
              <a:rPr lang="en-US" sz="1200" dirty="0">
                <a:solidFill>
                  <a:srgbClr val="1B5FAA"/>
                </a:solidFill>
                <a:latin typeface="Calibri" pitchFamily="34" charset="0"/>
                <a:ea typeface="Calibri" pitchFamily="34" charset="-122"/>
                <a:cs typeface="Calibri" pitchFamily="34" charset="-120"/>
              </a:rPr>
              <a:t>hpe.com/psnow/doc/a00106853enw</a:t>
            </a:r>
            <a:endParaRPr lang="en-US" sz="1200" dirty="0"/>
          </a:p>
        </p:txBody>
      </p:sp>
      <p:sp>
        <p:nvSpPr>
          <p:cNvPr id="12" name="Text 10"/>
          <p:cNvSpPr/>
          <p:nvPr/>
        </p:nvSpPr>
        <p:spPr>
          <a:xfrm>
            <a:off x="548640" y="2862072"/>
            <a:ext cx="3657600" cy="320040"/>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HPE Aruba CX 6000 Data Sheet</a:t>
            </a:r>
            <a:endParaRPr lang="en-US" sz="1400" dirty="0"/>
          </a:p>
        </p:txBody>
      </p:sp>
      <p:sp>
        <p:nvSpPr>
          <p:cNvPr id="13" name="Text 11"/>
          <p:cNvSpPr/>
          <p:nvPr/>
        </p:nvSpPr>
        <p:spPr>
          <a:xfrm>
            <a:off x="4206240" y="2862072"/>
            <a:ext cx="7498080" cy="320040"/>
          </a:xfrm>
          <a:prstGeom prst="rect">
            <a:avLst/>
          </a:prstGeom>
          <a:noFill/>
          <a:ln/>
        </p:spPr>
        <p:txBody>
          <a:bodyPr wrap="square" rtlCol="0" anchor="ctr"/>
          <a:lstStyle/>
          <a:p>
            <a:pPr indent="0" marL="0">
              <a:buNone/>
            </a:pPr>
            <a:r>
              <a:rPr lang="en-US" sz="1200" dirty="0">
                <a:solidFill>
                  <a:srgbClr val="1B5FAA"/>
                </a:solidFill>
                <a:latin typeface="Calibri" pitchFamily="34" charset="0"/>
                <a:ea typeface="Calibri" pitchFamily="34" charset="-122"/>
                <a:cs typeface="Calibri" pitchFamily="34" charset="-120"/>
              </a:rPr>
              <a:t>hpe.com/psnow/doc/a00112996enw</a:t>
            </a:r>
            <a:endParaRPr lang="en-US" sz="1200" dirty="0"/>
          </a:p>
        </p:txBody>
      </p:sp>
      <p:sp>
        <p:nvSpPr>
          <p:cNvPr id="14" name="Text 12"/>
          <p:cNvSpPr/>
          <p:nvPr/>
        </p:nvSpPr>
        <p:spPr>
          <a:xfrm>
            <a:off x="548640" y="3246120"/>
            <a:ext cx="3657600" cy="320040"/>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Aruba AOS-CX Security Guide (6000/6100)</a:t>
            </a:r>
            <a:endParaRPr lang="en-US" sz="1400" dirty="0"/>
          </a:p>
        </p:txBody>
      </p:sp>
      <p:sp>
        <p:nvSpPr>
          <p:cNvPr id="15" name="Text 13"/>
          <p:cNvSpPr/>
          <p:nvPr/>
        </p:nvSpPr>
        <p:spPr>
          <a:xfrm>
            <a:off x="4206240" y="3246120"/>
            <a:ext cx="7498080" cy="320040"/>
          </a:xfrm>
          <a:prstGeom prst="rect">
            <a:avLst/>
          </a:prstGeom>
          <a:noFill/>
          <a:ln/>
        </p:spPr>
        <p:txBody>
          <a:bodyPr wrap="square" rtlCol="0" anchor="ctr"/>
          <a:lstStyle/>
          <a:p>
            <a:pPr indent="0" marL="0">
              <a:buNone/>
            </a:pPr>
            <a:r>
              <a:rPr lang="en-US" sz="1200" dirty="0">
                <a:solidFill>
                  <a:srgbClr val="1B5FAA"/>
                </a:solidFill>
                <a:latin typeface="Calibri" pitchFamily="34" charset="0"/>
                <a:ea typeface="Calibri" pitchFamily="34" charset="-122"/>
                <a:cs typeface="Calibri" pitchFamily="34" charset="-120"/>
              </a:rPr>
              <a:t>arubanetworking.hpe.com/techdocs/AOS-CX/10.10/PDF/security_4100i-6000-6100.pdf</a:t>
            </a:r>
            <a:endParaRPr lang="en-US" sz="1200" dirty="0"/>
          </a:p>
        </p:txBody>
      </p:sp>
      <p:sp>
        <p:nvSpPr>
          <p:cNvPr id="16" name="Text 14"/>
          <p:cNvSpPr/>
          <p:nvPr/>
        </p:nvSpPr>
        <p:spPr>
          <a:xfrm>
            <a:off x="548640" y="3630168"/>
            <a:ext cx="3657600" cy="320040"/>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Aruba AOS-CX IP Routing Guide (6000/6100)</a:t>
            </a:r>
            <a:endParaRPr lang="en-US" sz="1400" dirty="0"/>
          </a:p>
        </p:txBody>
      </p:sp>
      <p:sp>
        <p:nvSpPr>
          <p:cNvPr id="17" name="Text 15"/>
          <p:cNvSpPr/>
          <p:nvPr/>
        </p:nvSpPr>
        <p:spPr>
          <a:xfrm>
            <a:off x="4206240" y="3630168"/>
            <a:ext cx="7498080" cy="320040"/>
          </a:xfrm>
          <a:prstGeom prst="rect">
            <a:avLst/>
          </a:prstGeom>
          <a:noFill/>
          <a:ln/>
        </p:spPr>
        <p:txBody>
          <a:bodyPr wrap="square" rtlCol="0" anchor="ctr"/>
          <a:lstStyle/>
          <a:p>
            <a:pPr indent="0" marL="0">
              <a:buNone/>
            </a:pPr>
            <a:r>
              <a:rPr lang="en-US" sz="1200" dirty="0">
                <a:solidFill>
                  <a:srgbClr val="1B5FAA"/>
                </a:solidFill>
                <a:latin typeface="Calibri" pitchFamily="34" charset="0"/>
                <a:ea typeface="Calibri" pitchFamily="34" charset="-122"/>
                <a:cs typeface="Calibri" pitchFamily="34" charset="-120"/>
              </a:rPr>
              <a:t>arubanetworking.hpe.com/techdocs/AOS-CX/10.13/PDF/ip_route_4100i-6000-6100-6200.pdf</a:t>
            </a:r>
            <a:endParaRPr lang="en-US" sz="1200" dirty="0"/>
          </a:p>
        </p:txBody>
      </p:sp>
      <p:sp>
        <p:nvSpPr>
          <p:cNvPr id="18" name="Text 16"/>
          <p:cNvSpPr/>
          <p:nvPr/>
        </p:nvSpPr>
        <p:spPr>
          <a:xfrm>
            <a:off x="548640" y="4014216"/>
            <a:ext cx="3657600" cy="320040"/>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Cisco C9200CX Hardware Installation Guide</a:t>
            </a:r>
            <a:endParaRPr lang="en-US" sz="1400" dirty="0"/>
          </a:p>
        </p:txBody>
      </p:sp>
      <p:sp>
        <p:nvSpPr>
          <p:cNvPr id="19" name="Text 17"/>
          <p:cNvSpPr/>
          <p:nvPr/>
        </p:nvSpPr>
        <p:spPr>
          <a:xfrm>
            <a:off x="4206240" y="4014216"/>
            <a:ext cx="7498080" cy="320040"/>
          </a:xfrm>
          <a:prstGeom prst="rect">
            <a:avLst/>
          </a:prstGeom>
          <a:noFill/>
          <a:ln/>
        </p:spPr>
        <p:txBody>
          <a:bodyPr wrap="square" rtlCol="0" anchor="ctr"/>
          <a:lstStyle/>
          <a:p>
            <a:pPr indent="0" marL="0">
              <a:buNone/>
            </a:pPr>
            <a:r>
              <a:rPr lang="en-US" sz="1200" dirty="0">
                <a:solidFill>
                  <a:srgbClr val="1B5FAA"/>
                </a:solidFill>
                <a:latin typeface="Calibri" pitchFamily="34" charset="0"/>
                <a:ea typeface="Calibri" pitchFamily="34" charset="-122"/>
                <a:cs typeface="Calibri" pitchFamily="34" charset="-120"/>
              </a:rPr>
              <a:t>cisco.com/c/en/us/td/docs/switches/lan/catalyst9200/hardware/install/b-c9200cx-hig</a:t>
            </a:r>
            <a:endParaRPr lang="en-US" sz="1200" dirty="0"/>
          </a:p>
        </p:txBody>
      </p:sp>
      <p:sp>
        <p:nvSpPr>
          <p:cNvPr id="20" name="Shape 18"/>
          <p:cNvSpPr/>
          <p:nvPr/>
        </p:nvSpPr>
        <p:spPr>
          <a:xfrm>
            <a:off x="457200" y="4754880"/>
            <a:ext cx="11247120" cy="1097280"/>
          </a:xfrm>
          <a:prstGeom prst="roundRect">
            <a:avLst>
              <a:gd name="adj" fmla="val 3333"/>
            </a:avLst>
          </a:prstGeom>
          <a:solidFill>
            <a:srgbClr val="F1F5F9"/>
          </a:solidFill>
          <a:ln w="12700">
            <a:solidFill>
              <a:srgbClr val="CBD5E1"/>
            </a:solidFill>
            <a:prstDash val="solid"/>
          </a:ln>
        </p:spPr>
      </p:sp>
      <p:sp>
        <p:nvSpPr>
          <p:cNvPr id="21" name="Text 19"/>
          <p:cNvSpPr/>
          <p:nvPr/>
        </p:nvSpPr>
        <p:spPr>
          <a:xfrm>
            <a:off x="640080" y="5120640"/>
            <a:ext cx="2743200" cy="274320"/>
          </a:xfrm>
          <a:prstGeom prst="rect">
            <a:avLst/>
          </a:prstGeom>
          <a:noFill/>
          <a:ln/>
        </p:spPr>
        <p:txBody>
          <a:bodyPr wrap="square" rtlCol="0" anchor="ctr"/>
          <a:lstStyle/>
          <a:p>
            <a:pPr indent="0" marL="0">
              <a:buNone/>
            </a:pPr>
            <a:r>
              <a:rPr lang="en-US" sz="1400" b="1" dirty="0">
                <a:solidFill>
                  <a:srgbClr val="0B1F3F"/>
                </a:solidFill>
                <a:latin typeface="Calibri" pitchFamily="34" charset="0"/>
                <a:ea typeface="Calibri" pitchFamily="34" charset="-122"/>
                <a:cs typeface="Calibri" pitchFamily="34" charset="-120"/>
              </a:rPr>
              <a:t>Methodology</a:t>
            </a:r>
            <a:endParaRPr lang="en-US" sz="1400" dirty="0"/>
          </a:p>
        </p:txBody>
      </p:sp>
      <p:sp>
        <p:nvSpPr>
          <p:cNvPr id="22" name="Text 20"/>
          <p:cNvSpPr/>
          <p:nvPr/>
        </p:nvSpPr>
        <p:spPr>
          <a:xfrm>
            <a:off x="640080" y="5440680"/>
            <a:ext cx="10881360" cy="502920"/>
          </a:xfrm>
          <a:prstGeom prst="rect">
            <a:avLst/>
          </a:prstGeom>
          <a:noFill/>
          <a:ln/>
        </p:spPr>
        <p:txBody>
          <a:bodyPr wrap="square" rtlCol="0" anchor="ctr"/>
          <a:lstStyle/>
          <a:p>
            <a:pPr indent="0" marL="0">
              <a:buNone/>
            </a:pPr>
            <a:r>
              <a:rPr lang="en-US" sz="1300" dirty="0">
                <a:solidFill>
                  <a:srgbClr val="475569"/>
                </a:solidFill>
                <a:latin typeface="Calibri" pitchFamily="34" charset="0"/>
                <a:ea typeface="Calibri" pitchFamily="34" charset="-122"/>
                <a:cs typeface="Calibri" pitchFamily="34" charset="-120"/>
              </a:rPr>
              <a:t>All specifications were validated against official vendor datasheets and product pages. Cisco competitive marketing slides were noted but not treated as neutral evidence. Community forum opinions were excluded. Where data was unavailable, slides state "not published" rather than estimating. Corrections are highlighted in amber.</a:t>
            </a:r>
            <a:endParaRPr lang="en-US" sz="1300" dirty="0"/>
          </a:p>
        </p:txBody>
      </p:sp>
      <p:sp>
        <p:nvSpPr>
          <p:cNvPr id="23" name="Text 21"/>
          <p:cNvSpPr/>
          <p:nvPr/>
        </p:nvSpPr>
        <p:spPr>
          <a:xfrm>
            <a:off x="548640" y="6446520"/>
            <a:ext cx="7315200" cy="228600"/>
          </a:xfrm>
          <a:prstGeom prst="rect">
            <a:avLst/>
          </a:prstGeom>
          <a:noFill/>
          <a:ln/>
        </p:spPr>
        <p:txBody>
          <a:bodyPr wrap="square" rtlCol="0" anchor="ctr"/>
          <a:lstStyle/>
          <a:p>
            <a:pPr indent="0" marL="0">
              <a:buNone/>
            </a:pPr>
            <a:r>
              <a:rPr lang="en-US" sz="800" dirty="0">
                <a:solidFill>
                  <a:srgbClr val="94A3B8"/>
                </a:solidFill>
                <a:latin typeface="Calibri" pitchFamily="34" charset="0"/>
                <a:ea typeface="Calibri" pitchFamily="34" charset="-122"/>
                <a:cs typeface="Calibri" pitchFamily="34" charset="-120"/>
              </a:rPr>
              <a:t>Carnival | Cisco C9200CX Replacement Analysis | Slide 18 of 18</a:t>
            </a:r>
            <a:endParaRPr lang="en-US" sz="800" dirty="0"/>
          </a:p>
        </p:txBody>
      </p:sp>
      <p:sp>
        <p:nvSpPr>
          <p:cNvPr id="24" name="Text 22"/>
          <p:cNvSpPr/>
          <p:nvPr/>
        </p:nvSpPr>
        <p:spPr>
          <a:xfrm>
            <a:off x="9601200" y="6446520"/>
            <a:ext cx="2103120" cy="228600"/>
          </a:xfrm>
          <a:prstGeom prst="rect">
            <a:avLst/>
          </a:prstGeom>
          <a:noFill/>
          <a:ln/>
        </p:spPr>
        <p:txBody>
          <a:bodyPr wrap="square" rtlCol="0" anchor="ctr"/>
          <a:lstStyle/>
          <a:p>
            <a:pPr algn="r" indent="0" marL="0">
              <a:buNone/>
            </a:pPr>
            <a:r>
              <a:rPr lang="en-US" sz="800" dirty="0">
                <a:solidFill>
                  <a:srgbClr val="94A3B8"/>
                </a:solidFill>
                <a:latin typeface="Calibri" pitchFamily="34" charset="0"/>
                <a:ea typeface="Calibri" pitchFamily="34" charset="-122"/>
                <a:cs typeface="Calibri" pitchFamily="34" charset="-120"/>
              </a:rPr>
              <a:t>Validated March 2026</a:t>
            </a:r>
            <a:endParaRPr lang="en-US" sz="800" dirty="0"/>
          </a:p>
        </p:txBody>
      </p:sp>
      <p:sp>
        <p:nvSpPr>
          <p:cNvPr id="25" name="Shape 23"/>
          <p:cNvSpPr/>
          <p:nvPr/>
        </p:nvSpPr>
        <p:spPr>
          <a:xfrm>
            <a:off x="548640" y="6419088"/>
            <a:ext cx="11064240" cy="0"/>
          </a:xfrm>
          <a:prstGeom prst="line">
            <a:avLst/>
          </a:prstGeom>
          <a:noFill/>
          <a:ln w="12700">
            <a:solidFill>
              <a:srgbClr val="CBD5E1"/>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Carnival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Cisco C9200CX-12P-2X2G-E Replacement Analysis</dc:title>
  <dc:subject>Cisco C9200CX Replacement Analysis - Corrected &amp; Validated</dc:subject>
  <dc:creator>Carnival Network Engineering</dc:creator>
  <cp:lastModifiedBy>Carnival Network Engineering</cp:lastModifiedBy>
  <cp:revision>1</cp:revision>
  <dcterms:created xsi:type="dcterms:W3CDTF">2026-03-24T17:41:49Z</dcterms:created>
  <dcterms:modified xsi:type="dcterms:W3CDTF">2026-03-24T17:41:49Z</dcterms:modified>
</cp:coreProperties>
</file>