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F"/>
        </a:solidFill>
      </p:bgPr>
    </p:bg>
    <p:spTree>
      <p:nvGrpSpPr>
        <p:cNvPr id="1" name=""/>
        <p:cNvGrpSpPr/>
        <p:nvPr/>
      </p:nvGrpSpPr>
      <p:grpSpPr>
        <a:xfrm>
          <a:off x="0" y="0"/>
          <a:ext cx="0" cy="0"/>
          <a:chOff x="0" y="0"/>
          <a:chExt cx="0" cy="0"/>
        </a:xfrm>
      </p:grpSpPr>
      <p:sp>
        <p:nvSpPr>
          <p:cNvPr id="2" name="Text 0"/>
          <p:cNvSpPr/>
          <p:nvPr/>
        </p:nvSpPr>
        <p:spPr>
          <a:xfrm>
            <a:off x="731520" y="73152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Calibri" pitchFamily="34" charset="0"/>
                <a:ea typeface="Calibri" pitchFamily="34" charset="-122"/>
                <a:cs typeface="Calibri" pitchFamily="34" charset="-120"/>
              </a:rPr>
              <a:t>Cisco C9200CX-12P-2X2G-E</a:t>
            </a:r>
            <a:endParaRPr lang="en-US" sz="3600" dirty="0"/>
          </a:p>
          <a:p>
            <a:pPr indent="0" marL="0">
              <a:lnSpc>
                <a:spcPct val="120000"/>
              </a:lnSpc>
              <a:buNone/>
            </a:pPr>
            <a:r>
              <a:rPr lang="en-US" sz="3600" b="1" dirty="0">
                <a:solidFill>
                  <a:srgbClr val="FFFFFF"/>
                </a:solidFill>
                <a:latin typeface="Calibri" pitchFamily="34" charset="0"/>
                <a:ea typeface="Calibri" pitchFamily="34" charset="-122"/>
                <a:cs typeface="Calibri" pitchFamily="34" charset="-120"/>
              </a:rPr>
              <a:t>Replacement Analysis</a:t>
            </a:r>
            <a:endParaRPr lang="en-US" sz="3600" dirty="0"/>
          </a:p>
        </p:txBody>
      </p:sp>
      <p:sp>
        <p:nvSpPr>
          <p:cNvPr id="3" name="Shape 1"/>
          <p:cNvSpPr/>
          <p:nvPr/>
        </p:nvSpPr>
        <p:spPr>
          <a:xfrm>
            <a:off x="731520" y="2743200"/>
            <a:ext cx="4114800" cy="0"/>
          </a:xfrm>
          <a:prstGeom prst="line">
            <a:avLst/>
          </a:prstGeom>
          <a:noFill/>
          <a:ln w="12700">
            <a:solidFill>
              <a:srgbClr val="1B5FAA"/>
            </a:solidFill>
            <a:prstDash val="solid"/>
          </a:ln>
        </p:spPr>
      </p:sp>
      <p:sp>
        <p:nvSpPr>
          <p:cNvPr id="4" name="Text 2"/>
          <p:cNvSpPr/>
          <p:nvPr/>
        </p:nvSpPr>
        <p:spPr>
          <a:xfrm>
            <a:off x="731520" y="3017520"/>
            <a:ext cx="10515600" cy="548640"/>
          </a:xfrm>
          <a:prstGeom prst="rect">
            <a:avLst/>
          </a:prstGeom>
          <a:noFill/>
          <a:ln/>
        </p:spPr>
        <p:txBody>
          <a:bodyPr wrap="square" rtlCol="0" anchor="ctr"/>
          <a:lstStyle/>
          <a:p>
            <a:pPr indent="0" marL="0">
              <a:buNone/>
            </a:pPr>
            <a:r>
              <a:rPr lang="en-US" sz="2200" dirty="0">
                <a:solidFill>
                  <a:srgbClr val="94A3B8"/>
                </a:solidFill>
                <a:latin typeface="Calibri" pitchFamily="34" charset="0"/>
                <a:ea typeface="Calibri" pitchFamily="34" charset="-122"/>
                <a:cs typeface="Calibri" pitchFamily="34" charset="-120"/>
              </a:rPr>
              <a:t>Aruba CX 6000 vs. CX 6100 Comparison</a:t>
            </a:r>
            <a:endParaRPr lang="en-US" sz="2200" dirty="0"/>
          </a:p>
        </p:txBody>
      </p:sp>
      <p:sp>
        <p:nvSpPr>
          <p:cNvPr id="5" name="Text 3"/>
          <p:cNvSpPr/>
          <p:nvPr/>
        </p:nvSpPr>
        <p:spPr>
          <a:xfrm>
            <a:off x="731520" y="3840480"/>
            <a:ext cx="7315200" cy="822960"/>
          </a:xfrm>
          <a:prstGeom prst="rect">
            <a:avLst/>
          </a:prstGeom>
          <a:noFill/>
          <a:ln/>
        </p:spPr>
        <p:txBody>
          <a:bodyPr wrap="square" rtlCol="0" anchor="ctr"/>
          <a:lstStyle/>
          <a:p>
            <a:pPr indent="0" marL="0">
              <a:lnSpc>
                <a:spcPct val="140000"/>
              </a:lnSpc>
              <a:buNone/>
            </a:pPr>
            <a:r>
              <a:rPr lang="en-US" sz="1400" dirty="0">
                <a:solidFill>
                  <a:srgbClr val="94A3B8"/>
                </a:solidFill>
                <a:latin typeface="Calibri" pitchFamily="34" charset="0"/>
                <a:ea typeface="Calibri" pitchFamily="34" charset="-122"/>
                <a:cs typeface="Calibri" pitchFamily="34" charset="-120"/>
              </a:rPr>
              <a:t>Context: Marine Environment — Weight Optimization &amp; Performance Requirements</a:t>
            </a:r>
            <a:endParaRPr lang="en-US" sz="1400" dirty="0"/>
          </a:p>
          <a:p>
            <a:pPr indent="0" marL="0">
              <a:lnSpc>
                <a:spcPct val="140000"/>
              </a:lnSpc>
              <a:buNone/>
            </a:pPr>
            <a:r>
              <a:rPr lang="en-US" sz="1400" dirty="0">
                <a:solidFill>
                  <a:srgbClr val="94A3B8"/>
                </a:solidFill>
                <a:latin typeface="Calibri" pitchFamily="34" charset="0"/>
                <a:ea typeface="Calibri" pitchFamily="34" charset="-122"/>
                <a:cs typeface="Calibri" pitchFamily="34" charset="-120"/>
              </a:rPr>
              <a:t>Prepared For: Carnival — 2,000–2,500 Switches per Ship</a:t>
            </a:r>
            <a:endParaRPr lang="en-US" sz="1400" dirty="0"/>
          </a:p>
        </p:txBody>
      </p:sp>
      <p:sp>
        <p:nvSpPr>
          <p:cNvPr id="6" name="Shape 4"/>
          <p:cNvSpPr/>
          <p:nvPr/>
        </p:nvSpPr>
        <p:spPr>
          <a:xfrm>
            <a:off x="731520" y="5120640"/>
            <a:ext cx="4754880" cy="914400"/>
          </a:xfrm>
          <a:prstGeom prst="roundRect">
            <a:avLst>
              <a:gd name="adj" fmla="val 6000"/>
            </a:avLst>
          </a:prstGeom>
          <a:solidFill>
            <a:srgbClr val="14325A"/>
          </a:solidFill>
          <a:ln w="12700">
            <a:solidFill>
              <a:srgbClr val="1B5FAA"/>
            </a:solidFill>
            <a:prstDash val="solid"/>
          </a:ln>
        </p:spPr>
      </p:sp>
      <p:sp>
        <p:nvSpPr>
          <p:cNvPr id="7" name="Text 5"/>
          <p:cNvSpPr/>
          <p:nvPr/>
        </p:nvSpPr>
        <p:spPr>
          <a:xfrm>
            <a:off x="914400" y="5303520"/>
            <a:ext cx="4389120" cy="54864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Validated &amp; corrected against official vendor datasheets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March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The Problem — Weight Escalation Across Generations</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Weight trend across Cisco compact switch generations</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914400"/>
        </p:xfrm>
        <a:graphic>
          <a:graphicData uri="http://schemas.openxmlformats.org/drawingml/2006/table">
            <a:tbl>
              <a:tblPr/>
              <a:tblGrid>
                <a:gridCol w="1828800"/>
                <a:gridCol w="3931920"/>
                <a:gridCol w="2286000"/>
                <a:gridCol w="320040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Generation</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Weight</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Increase vs Baseline</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Legacy</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WS-C2960C-12PC-L / WS-C3560C-12PC-S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4.1 lb (1.86 kg)</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Previous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3560CX-12PC-S / 12PD-S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5.1 lb (2.31 kg)</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+24.4%</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E293B"/>
                          </a:solidFill>
                          <a:latin typeface="Calibri" pitchFamily="34" charset="0"/>
                          <a:ea typeface="Calibri" pitchFamily="34" charset="-122"/>
                          <a:cs typeface="Calibri" pitchFamily="34" charset="-120"/>
                        </a:rPr>
                        <a:t>Current</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b="1" dirty="0">
                          <a:solidFill>
                            <a:srgbClr val="1E293B"/>
                          </a:solidFill>
                          <a:latin typeface="Calibri" pitchFamily="34" charset="0"/>
                          <a:ea typeface="Calibri" pitchFamily="34" charset="-122"/>
                          <a:cs typeface="Calibri" pitchFamily="34" charset="-120"/>
                        </a:rPr>
                        <a:t>C9200CX-12P-2X2G-E</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b="1" dirty="0">
                          <a:solidFill>
                            <a:srgbClr val="B91C1C"/>
                          </a:solidFill>
                          <a:latin typeface="Calibri" pitchFamily="34" charset="0"/>
                          <a:ea typeface="Calibri" pitchFamily="34" charset="-122"/>
                          <a:cs typeface="Calibri" pitchFamily="34" charset="-120"/>
                        </a:rPr>
                        <a:t>6.6 lb (2.99 kg)</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b="1" dirty="0">
                          <a:solidFill>
                            <a:srgbClr val="B91C1C"/>
                          </a:solidFill>
                          <a:latin typeface="Calibri" pitchFamily="34" charset="0"/>
                          <a:ea typeface="Calibri" pitchFamily="34" charset="-122"/>
                          <a:cs typeface="Calibri" pitchFamily="34" charset="-120"/>
                        </a:rPr>
                        <a:t>+29.4% vs 3560CX / +61.0% vs 2960C</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Text 3"/>
          <p:cNvSpPr/>
          <p:nvPr/>
        </p:nvSpPr>
        <p:spPr>
          <a:xfrm>
            <a:off x="548640" y="3200400"/>
            <a:ext cx="10972800" cy="731520"/>
          </a:xfrm>
          <a:prstGeom prst="rect">
            <a:avLst/>
          </a:prstGeom>
          <a:noFill/>
          <a:ln/>
        </p:spPr>
        <p:txBody>
          <a:bodyPr wrap="square" rtlCol="0" anchor="ctr"/>
          <a:lstStyle/>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At 2,500 switches per ship, the Cisco C9200CX adds 16,500 lb (8.25 tons) of switch weight alone.</a:t>
            </a:r>
            <a:endParaRPr lang="en-US" sz="1300" dirty="0"/>
          </a:p>
          <a:p>
            <a:pPr indent="0" marL="0">
              <a:lnSpc>
                <a:spcPct val="150000"/>
              </a:lnSpc>
              <a:buNone/>
            </a:pPr>
            <a:r>
              <a:rPr lang="en-US" sz="1300" dirty="0">
                <a:solidFill>
                  <a:srgbClr val="475569"/>
                </a:solidFill>
                <a:latin typeface="Calibri" pitchFamily="34" charset="0"/>
                <a:ea typeface="Calibri" pitchFamily="34" charset="-122"/>
                <a:cs typeface="Calibri" pitchFamily="34" charset="-120"/>
              </a:rPr>
              <a:t>Replacement candidates must address this weight escalation while preserving essential capabilities.</a:t>
            </a:r>
            <a:endParaRPr lang="en-US" sz="1300" dirty="0"/>
          </a:p>
        </p:txBody>
      </p:sp>
      <p:sp>
        <p:nvSpPr>
          <p:cNvPr id="7" name="Text 4"/>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2 of 18</a:t>
            </a:r>
            <a:endParaRPr lang="en-US" sz="800" dirty="0"/>
          </a:p>
        </p:txBody>
      </p:sp>
      <p:sp>
        <p:nvSpPr>
          <p:cNvPr id="8" name="Text 5"/>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9" name="Shape 6"/>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Executive Summary</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Corrected headline metrics from official vendor datasheets</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377440"/>
                <a:gridCol w="2834640"/>
                <a:gridCol w="3017520"/>
                <a:gridCol w="301752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Metric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Cisco C9200CX-12P-2X2G-E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6100 (JL679A)</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6000 (R8N89A)</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Weight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6.6 lb (2.99 kg)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6.13 lb (2.78 kg)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6.17 lb (2.80 kg)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10G Uplinks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Yes — 2x 10G SFP+</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Yes — 2x 1/10G SFP+</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(1G SFP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Budget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240W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139W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139W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Switching Capacity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68 Gbps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68 Gbps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32 Gbps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Forwarding Rate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50.59 Mpps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45.1 Mpps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23.8 Mpps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Weight Savings per Switch</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0.47 lb (7.1%)</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0.43 lb (6.5%)</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Fleet Savings (2,500 units)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1,175 lb (0.59 tons)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1,075 lb (0.54 tons)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Stacking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None (C9200CX cannot stack)</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VSF — up to 8 members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Not confirmed for this SKU</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3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Corrections vs. Original Deck</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Material errors found during vendor-source validation</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1097280"/>
                <a:gridCol w="7132320"/>
              </a:tblGrid>
              <a:tr h="45720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Original Claim</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Verdict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Correction &amp; Source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C9200CX supports StackWise stacking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FALSE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datasheet: "Stacking not available on C9200CX switches." Only full-size C9200/C9200L support StackWise-160/80.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CX 6100 has no stacking capability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FALSE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HPE product page: CX 6100 supports "8-member VSF stacking for up to 384 downlink ports."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CX 6000 RAM = 512 MB / Flash = 256 MB</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DISPUTED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Librarian research found 4 GB DDR3 RAM and 16 GB eMMC flash for CX 6000 in secondary sources. Original deck data appears outdated or confused with older models.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C9200CX VLANs = 1,024</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FALSE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datasheet: C9200CX supports 4,094 VLAN IDs, same as full C9200 family.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60W UPOE per port on C9200CX-12P model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MISLEADING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60W UPOE/802.3bt Class 6 applies to mGig models (C9200CX-8UXG). The 12P model supports 30W PoE+ per port.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457200">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competitive slide data = neutral fact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MISLEADING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Scale numbers from Cisco competitive slides (Slide 16) are Cisco marketing. Use datasheet values.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4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Hardware Architecture Comparison</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Validated from vendor datasheets — corrections highlighted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1920240"/>
                <a:gridCol w="3017520"/>
                <a:gridCol w="3017520"/>
                <a:gridCol w="329184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Component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Cisco C9200CX-12P-2X2G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6100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6000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ASIC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UADP 2.0 Mini</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Dedicated ASIC (HPE)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Dedicated ASIC (HPE)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CPU</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4-Core ARM @ 375 MHz</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ARM Cortex A9 (freq not published)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ARM Cortex A9 (freq not published)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RAM</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 GB DDR3</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 GB DDR3</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4 GB DDR3 (corrected from 512 MB)</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Flash</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 GB</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16 GB eMMC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16 GB eMMC (corrected from 256 MB)</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Packet Buffer</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6 MB</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12.38 MB</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Not specified in reviewed sources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MAC Table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32,000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8,192</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8,192</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VLANs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4,094 (corrected from 1,024)</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4,096</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4,096</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Form Factor</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Fanless, 1U compact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Fanless, 1U compact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Fanless, 1U compact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5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PoE &amp; Power Comparison</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Critical for marine deployments with high-power PoE devices</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194560"/>
                <a:gridCol w="3017520"/>
                <a:gridCol w="3017520"/>
                <a:gridCol w="301752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Feature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Cisco C9200CX</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6100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6000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Standard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(802.3at)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(802.3at) Class 4</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(802.3at) Class 4</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Budget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240W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139W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139W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Max per Port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30W (PoE+)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30W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30W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UPOE / 802.3bt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Only on mGig models, not this 12P SKU</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Power Supply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Internal 315W AC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Internal 165W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Internal</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Perpetual PoE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Yes (Fast PoE)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Delta (vs Cisco)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101W less (∓42%)</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101W less (∓42%)</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Shape 3"/>
          <p:cNvSpPr/>
          <p:nvPr/>
        </p:nvSpPr>
        <p:spPr>
          <a:xfrm>
            <a:off x="457200" y="4572000"/>
            <a:ext cx="11247120" cy="640080"/>
          </a:xfrm>
          <a:prstGeom prst="roundRect">
            <a:avLst>
              <a:gd name="adj" fmla="val 5714"/>
            </a:avLst>
          </a:prstGeom>
          <a:solidFill>
            <a:srgbClr val="FEF7E8"/>
          </a:solidFill>
          <a:ln w="12700">
            <a:solidFill>
              <a:srgbClr val="E5C66D"/>
            </a:solidFill>
            <a:prstDash val="solid"/>
          </a:ln>
        </p:spPr>
      </p:sp>
      <p:sp>
        <p:nvSpPr>
          <p:cNvPr id="7" name="Text 4"/>
          <p:cNvSpPr/>
          <p:nvPr/>
        </p:nvSpPr>
        <p:spPr>
          <a:xfrm>
            <a:off x="640080" y="4709160"/>
            <a:ext cx="10881360" cy="365760"/>
          </a:xfrm>
          <a:prstGeom prst="rect">
            <a:avLst/>
          </a:prstGeom>
          <a:noFill/>
          <a:ln/>
        </p:spPr>
        <p:txBody>
          <a:bodyPr wrap="square" rtlCol="0" anchor="ctr"/>
          <a:lstStyle/>
          <a:p>
            <a:pPr indent="0" marL="0">
              <a:buNone/>
            </a:pPr>
            <a:r>
              <a:rPr lang="en-US" sz="1200" b="1" dirty="0">
                <a:solidFill>
                  <a:srgbClr val="B47D1B"/>
                </a:solidFill>
                <a:latin typeface="Calibri" pitchFamily="34" charset="0"/>
                <a:ea typeface="Calibri" pitchFamily="34" charset="-122"/>
                <a:cs typeface="Calibri" pitchFamily="34" charset="-120"/>
              </a:rPr>
              <a:t>Marine impact: Cisco provides 72% more PoE budget. Verify actual per-switch PoE load before selecting Aruba. If loads exceed 139W, Aruba is disqualified.</a:t>
            </a:r>
            <a:endParaRPr lang="en-US" sz="1200" dirty="0"/>
          </a:p>
        </p:txBody>
      </p:sp>
      <p:sp>
        <p:nvSpPr>
          <p:cNvPr id="8" name="Text 5"/>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6 of 18</a:t>
            </a:r>
            <a:endParaRPr lang="en-US" sz="800" dirty="0"/>
          </a:p>
        </p:txBody>
      </p:sp>
      <p:sp>
        <p:nvSpPr>
          <p:cNvPr id="9" name="Text 6"/>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10" name="Shape 7"/>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Security Features Comparison</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377440"/>
                <a:gridCol w="3017520"/>
                <a:gridCol w="2926080"/>
                <a:gridCol w="292608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Feature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6100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6000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MACsec (AES-256)</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 (CX 6200+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Trustworthy Systems / Secure Boot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(Trust Anchor, SUDA)</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TPM integrated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TPM integrated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DHCP Snooping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on CX 6000/6100 per AOS-CX guide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on CX 6000/6100 per AOS-CX guide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Dynamic ARP Inspection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confirmed in reviewed AOS-CX docs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IP Source Guard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confirmed in reviewed AOS-CX docs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802.1X Authentication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TACACS+ / RADIUS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ACL Scale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1,600 entries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256 IPv4 / 128 IPv6</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256 IPv4 / 128 IPv6</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SD-Access Fabric Edge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2"/>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7 of 18</a:t>
            </a:r>
            <a:endParaRPr lang="en-US" sz="800" dirty="0"/>
          </a:p>
        </p:txBody>
      </p:sp>
      <p:sp>
        <p:nvSpPr>
          <p:cNvPr id="6" name="Text 3"/>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7" name="Shape 4"/>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Software &amp; Management Comparison</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Stacking correction is the most impactful change from the original deck</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194560"/>
                <a:gridCol w="3108960"/>
                <a:gridCol w="2971800"/>
                <a:gridCol w="297180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Feature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6100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6000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Operating System</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IOS XE (Lite)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AOS-CX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AOS-CX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Cloud Management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Cisco DNA Center / Meraki</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Central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Central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b="1" dirty="0">
                          <a:solidFill>
                            <a:srgbClr val="1E293B"/>
                          </a:solidFill>
                          <a:latin typeface="Calibri" pitchFamily="34" charset="0"/>
                          <a:ea typeface="Calibri" pitchFamily="34" charset="-122"/>
                          <a:cs typeface="Calibri" pitchFamily="34" charset="-120"/>
                        </a:rPr>
                        <a:t>Stacking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None — C9200CX cannot stack</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VSF — up to 8 members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confirmed for this SKU</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Zero-Touch Provisioning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(PnP)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(ZTP)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(ZTP)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Programmability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RESTCONF, NETCONF, YANG, gNMI</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REST API</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REST API</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Streaming Telemetry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(model-driven, gRPC)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SNMP + sFlow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SNMP + sFlow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NetFlow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Full Flexible NetFlow (16K flows)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sFlow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sFlow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Application Visibility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NBAR2 / AVC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Cold Patching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(reboot required)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8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L2 / L3 Protocol Support</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New slide — not present in original deck</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194560"/>
                <a:gridCol w="3017520"/>
                <a:gridCol w="3017520"/>
                <a:gridCol w="301752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Protocol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6100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6000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Static Routing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OSPF / OSPFv3</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 — Layer 2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 — Layer 2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EIGRP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IS-IS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RIPv2</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BGP (basic)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(from IOS-XE 17.13.1)</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IPv6 Dual Stack</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(full)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(static IPv6)</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 (static IPv6)</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STP / RSTP / MSTP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IGMP Snooping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Link Aggregation (LAG)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303520"/>
            <a:ext cx="10972800" cy="320040"/>
          </a:xfrm>
          <a:prstGeom prst="rect">
            <a:avLst/>
          </a:prstGeom>
          <a:noFill/>
          <a:ln/>
        </p:spPr>
        <p:txBody>
          <a:bodyPr wrap="square" rtlCol="0" anchor="ctr"/>
          <a:lstStyle/>
          <a:p>
            <a:pPr indent="0" marL="0">
              <a:buNone/>
            </a:pPr>
            <a:r>
              <a:rPr lang="en-US" sz="1100" b="1" dirty="0">
                <a:solidFill>
                  <a:srgbClr val="475569"/>
                </a:solidFill>
                <a:latin typeface="Calibri" pitchFamily="34" charset="0"/>
                <a:ea typeface="Calibri" pitchFamily="34" charset="-122"/>
                <a:cs typeface="Calibri" pitchFamily="34" charset="-120"/>
              </a:rPr>
              <a:t>If dynamic routing (OSPF/EIGRP) is needed for multi-deck ship topologies with failover, Cisco is the only option among these three.</a:t>
            </a:r>
            <a:endParaRPr lang="en-US" sz="1100" dirty="0"/>
          </a:p>
        </p:txBody>
      </p:sp>
      <p:sp>
        <p:nvSpPr>
          <p:cNvPr id="7" name="Text 4"/>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9 of 18</a:t>
            </a:r>
            <a:endParaRPr lang="en-US" sz="800" dirty="0"/>
          </a:p>
        </p:txBody>
      </p:sp>
      <p:sp>
        <p:nvSpPr>
          <p:cNvPr id="8" name="Text 5"/>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9" name="Shape 6"/>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Reliability &amp; Environmental Specifications</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New slide — critical for marine deployment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377440"/>
                <a:gridCol w="3017520"/>
                <a:gridCol w="2926080"/>
                <a:gridCol w="2926080"/>
              </a:tblGrid>
              <a:tr h="34747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Criterion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6100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Aruba CX 6000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MTBF</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553,140–704,430 hrs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 — request from HPE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 — request from HPE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Predicted annual failure rate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~0.14% (derived)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Unknown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Unknown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Operating Temperature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−5 to 45°C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0 to 45°C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0 to 45°C</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Humidity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5–90% non-condensing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5–90% non-condensing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5–90% non-condensing</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Fanless Design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(12-port)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Yes (12-port)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Marine Certification (IEC 60945 / DNV)</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Shock / Vibration (MIL-STD-167)</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Salt Spray (ASTM B117)</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B47D1B"/>
                          </a:solidFill>
                          <a:latin typeface="Calibri" pitchFamily="34" charset="0"/>
                          <a:ea typeface="Calibri" pitchFamily="34" charset="-122"/>
                          <a:cs typeface="Calibri" pitchFamily="34" charset="-120"/>
                        </a:rPr>
                        <a:t>Not published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Warranty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1 year (standard)</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Limited Lifetime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Limited Lifetime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10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Telemetry &amp; Monitoring Capabilities</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New slide — operational visibility comparison</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377440"/>
                <a:gridCol w="3017520"/>
                <a:gridCol w="2926080"/>
                <a:gridCol w="292608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Feature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Cisco C9200CX</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6100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6000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SNMP v1/v2c/v3</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Flow Monitoring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Flexible NetFlow v9 / IPFIX</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sFlow v5 (sampled)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sFlow v5 (sampled)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Streaming Telemetry (gRPC)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Yes — model-driven push</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 SNMP pull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 SNMP pull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YANG Data Models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OpenConfig + native YANG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NBAR2 / AVC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Application visibility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Port Mirroring / SPAN</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Syslog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LLDP</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Yes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4389120"/>
            <a:ext cx="10972800" cy="365760"/>
          </a:xfrm>
          <a:prstGeom prst="rect">
            <a:avLst/>
          </a:prstGeom>
          <a:noFill/>
          <a:ln/>
        </p:spPr>
        <p:txBody>
          <a:bodyPr wrap="square" rtlCol="0" anchor="ctr"/>
          <a:lstStyle/>
          <a:p>
            <a:pPr indent="0" marL="0">
              <a:buNone/>
            </a:pPr>
            <a:r>
              <a:rPr lang="en-US" sz="1100" b="1" dirty="0">
                <a:solidFill>
                  <a:srgbClr val="475569"/>
                </a:solidFill>
                <a:latin typeface="Calibri" pitchFamily="34" charset="0"/>
                <a:ea typeface="Calibri" pitchFamily="34" charset="-122"/>
                <a:cs typeface="Calibri" pitchFamily="34" charset="-120"/>
              </a:rPr>
              <a:t>Cisco enables real-time push telemetry for proactive anomaly detection. Aruba relies on SNMP polling (5–60s intervals) — adequate for basic health but not real-time diagnostics.</a:t>
            </a:r>
            <a:endParaRPr lang="en-US" sz="1100" dirty="0"/>
          </a:p>
        </p:txBody>
      </p:sp>
      <p:sp>
        <p:nvSpPr>
          <p:cNvPr id="7" name="Text 4"/>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11 of 18</a:t>
            </a:r>
            <a:endParaRPr lang="en-US" sz="800" dirty="0"/>
          </a:p>
        </p:txBody>
      </p:sp>
      <p:sp>
        <p:nvSpPr>
          <p:cNvPr id="8" name="Text 5"/>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9" name="Shape 6"/>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Stacking &amp; Scale at 2,500 Switches per Ship</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Critical operational correction — original deck had this backwards</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560320"/>
                <a:gridCol w="2926080"/>
                <a:gridCol w="2926080"/>
                <a:gridCol w="283464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Aspect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Cisco C9200CX</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6100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Aruba CX 6000</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b="1" dirty="0">
                          <a:solidFill>
                            <a:srgbClr val="1E293B"/>
                          </a:solidFill>
                          <a:latin typeface="Calibri" pitchFamily="34" charset="0"/>
                          <a:ea typeface="Calibri" pitchFamily="34" charset="-122"/>
                          <a:cs typeface="Calibri" pitchFamily="34" charset="-120"/>
                        </a:rPr>
                        <a:t>Stacking Support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NONE on C9200CX compact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VSF — 8 members / stack</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Not confirmed for this SKU</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Management entities at 2,500 units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2,500 individual IPs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~313 VSF stacks (1 IP each)</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2,500 individual IPs (assumed)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Topology options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RSTP / MSTP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Chain or ring VSF topology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RSTP / MSTP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Centralized mgmt required?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Yes — DNA Center essential</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Aruba Central recommended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Aruba Central recommended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Ports per stack</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N/A</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Up to 384 downlink ports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N/A</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Shape 3"/>
          <p:cNvSpPr/>
          <p:nvPr/>
        </p:nvSpPr>
        <p:spPr>
          <a:xfrm>
            <a:off x="457200" y="3840480"/>
            <a:ext cx="11247120" cy="914400"/>
          </a:xfrm>
          <a:prstGeom prst="roundRect">
            <a:avLst>
              <a:gd name="adj" fmla="val 4000"/>
            </a:avLst>
          </a:prstGeom>
          <a:solidFill>
            <a:srgbClr val="FEF2F2"/>
          </a:solidFill>
          <a:ln w="12700">
            <a:solidFill>
              <a:srgbClr val="F0B4B1"/>
            </a:solidFill>
            <a:prstDash val="solid"/>
          </a:ln>
        </p:spPr>
      </p:sp>
      <p:sp>
        <p:nvSpPr>
          <p:cNvPr id="7" name="Text 4"/>
          <p:cNvSpPr/>
          <p:nvPr/>
        </p:nvSpPr>
        <p:spPr>
          <a:xfrm>
            <a:off x="640080" y="4023360"/>
            <a:ext cx="10881360" cy="548640"/>
          </a:xfrm>
          <a:prstGeom prst="rect">
            <a:avLst/>
          </a:prstGeom>
          <a:noFill/>
          <a:ln/>
        </p:spPr>
        <p:txBody>
          <a:bodyPr wrap="square" rtlCol="0" anchor="ctr"/>
          <a:lstStyle/>
          <a:p>
            <a:pPr indent="0" marL="0">
              <a:buNone/>
            </a:pPr>
            <a:r>
              <a:rPr lang="en-US" sz="1300" b="1" dirty="0">
                <a:solidFill>
                  <a:srgbClr val="B91C1C"/>
                </a:solidFill>
                <a:latin typeface="Calibri" pitchFamily="34" charset="0"/>
                <a:ea typeface="Calibri" pitchFamily="34" charset="-122"/>
                <a:cs typeface="Calibri" pitchFamily="34" charset="-120"/>
              </a:rPr>
              <a:t>CRITICAL CORRECTION: The original deck claimed Cisco has StackWise and Aruba has none.</a:t>
            </a:r>
            <a:endParaRPr lang="en-US" sz="1300" dirty="0"/>
          </a:p>
          <a:p>
            <a:pPr indent="0" marL="0">
              <a:buNone/>
            </a:pPr>
            <a:r>
              <a:rPr lang="en-US" sz="1300" b="1" dirty="0">
                <a:solidFill>
                  <a:srgbClr val="B91C1C"/>
                </a:solidFill>
                <a:latin typeface="Calibri" pitchFamily="34" charset="0"/>
                <a:ea typeface="Calibri" pitchFamily="34" charset="-122"/>
                <a:cs typeface="Calibri" pitchFamily="34" charset="-120"/>
              </a:rPr>
              <a:t>The reality is the exact opposite for these specific models — Aruba CX 6100 has VSF and C9200CX has no stacking.</a:t>
            </a:r>
            <a:endParaRPr lang="en-US" sz="1300" dirty="0"/>
          </a:p>
        </p:txBody>
      </p:sp>
      <p:sp>
        <p:nvSpPr>
          <p:cNvPr id="8" name="Text 5"/>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12 of 18</a:t>
            </a:r>
            <a:endParaRPr lang="en-US" sz="800" dirty="0"/>
          </a:p>
        </p:txBody>
      </p:sp>
      <p:sp>
        <p:nvSpPr>
          <p:cNvPr id="9" name="Text 6"/>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10" name="Shape 7"/>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Weight Impact — Fleet-Wide Analysis</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47120" cy="914400"/>
        </p:xfrm>
        <a:graphic>
          <a:graphicData uri="http://schemas.openxmlformats.org/drawingml/2006/table">
            <a:tbl>
              <a:tblPr/>
              <a:tblGrid>
                <a:gridCol w="2560320"/>
                <a:gridCol w="1645920"/>
                <a:gridCol w="1645920"/>
                <a:gridCol w="2560320"/>
                <a:gridCol w="2834640"/>
              </a:tblGrid>
              <a:tr h="34747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Switches / Ship</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Weight / Switch</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Total per Ship</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Savings vs Cisco</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100" b="1" dirty="0">
                          <a:solidFill>
                            <a:srgbClr val="1E293B"/>
                          </a:solidFill>
                          <a:latin typeface="Calibri" pitchFamily="34" charset="0"/>
                          <a:ea typeface="Calibri" pitchFamily="34" charset="-122"/>
                          <a:cs typeface="Calibri" pitchFamily="34" charset="-120"/>
                        </a:rPr>
                        <a:t>Cisco C9200CX (current)</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6.60 lb</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16,500 lb (8.25 tons)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Aruba CX 6100</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6.13 lb</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15,325 lb (7.66 tons)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b="1" dirty="0">
                          <a:solidFill>
                            <a:srgbClr val="16824A"/>
                          </a:solidFill>
                          <a:latin typeface="Calibri" pitchFamily="34" charset="0"/>
                          <a:ea typeface="Calibri" pitchFamily="34" charset="-122"/>
                          <a:cs typeface="Calibri" pitchFamily="34" charset="-120"/>
                        </a:rPr>
                        <a:t>1,175 lb (0.59 tons)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Aruba CX 6000</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2,500</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6.17 lb</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15,425 lb (7.71 tons)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1,075 lb (0.54 tons)</a:t>
                      </a:r>
                      <a:endParaRPr lang="en-US" sz="11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2"/>
          <p:cNvSpPr/>
          <p:nvPr/>
        </p:nvSpPr>
        <p:spPr>
          <a:xfrm>
            <a:off x="548640" y="3200400"/>
            <a:ext cx="10972800" cy="274320"/>
          </a:xfrm>
          <a:prstGeom prst="rect">
            <a:avLst/>
          </a:prstGeom>
          <a:noFill/>
          <a:ln/>
        </p:spPr>
        <p:txBody>
          <a:bodyPr wrap="square"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Cumulative savings across a fleet of 10 ships:</a:t>
            </a:r>
            <a:endParaRPr lang="en-US" sz="1300" dirty="0"/>
          </a:p>
        </p:txBody>
      </p:sp>
      <p:sp>
        <p:nvSpPr>
          <p:cNvPr id="6" name="Shape 3"/>
          <p:cNvSpPr/>
          <p:nvPr/>
        </p:nvSpPr>
        <p:spPr>
          <a:xfrm>
            <a:off x="731520" y="3611880"/>
            <a:ext cx="5029200" cy="640080"/>
          </a:xfrm>
          <a:prstGeom prst="roundRect">
            <a:avLst>
              <a:gd name="adj" fmla="val 5714"/>
            </a:avLst>
          </a:prstGeom>
          <a:solidFill>
            <a:srgbClr val="E8F5EE"/>
          </a:solidFill>
          <a:ln w="12700">
            <a:solidFill>
              <a:srgbClr val="B7E1C0"/>
            </a:solidFill>
            <a:prstDash val="solid"/>
          </a:ln>
        </p:spPr>
      </p:sp>
      <p:sp>
        <p:nvSpPr>
          <p:cNvPr id="7" name="Text 4"/>
          <p:cNvSpPr/>
          <p:nvPr/>
        </p:nvSpPr>
        <p:spPr>
          <a:xfrm>
            <a:off x="914400" y="3749040"/>
            <a:ext cx="4663440" cy="365760"/>
          </a:xfrm>
          <a:prstGeom prst="rect">
            <a:avLst/>
          </a:prstGeom>
          <a:noFill/>
          <a:ln/>
        </p:spPr>
        <p:txBody>
          <a:bodyPr wrap="square" rtlCol="0" anchor="ctr"/>
          <a:lstStyle/>
          <a:p>
            <a:pPr algn="ctr" indent="0" marL="0">
              <a:buNone/>
            </a:pPr>
            <a:r>
              <a:rPr lang="en-US" sz="1500" b="1" dirty="0">
                <a:solidFill>
                  <a:srgbClr val="16824A"/>
                </a:solidFill>
                <a:latin typeface="Calibri" pitchFamily="34" charset="0"/>
                <a:ea typeface="Calibri" pitchFamily="34" charset="-122"/>
                <a:cs typeface="Calibri" pitchFamily="34" charset="-120"/>
              </a:rPr>
              <a:t>Aruba CX 6100: 5.9 tons weight reduction</a:t>
            </a:r>
            <a:endParaRPr lang="en-US" sz="1500" dirty="0"/>
          </a:p>
        </p:txBody>
      </p:sp>
      <p:sp>
        <p:nvSpPr>
          <p:cNvPr id="8" name="Shape 5"/>
          <p:cNvSpPr/>
          <p:nvPr/>
        </p:nvSpPr>
        <p:spPr>
          <a:xfrm>
            <a:off x="6217920" y="3611880"/>
            <a:ext cx="5029200" cy="640080"/>
          </a:xfrm>
          <a:prstGeom prst="roundRect">
            <a:avLst>
              <a:gd name="adj" fmla="val 5714"/>
            </a:avLst>
          </a:prstGeom>
          <a:solidFill>
            <a:srgbClr val="F1F5F9"/>
          </a:solidFill>
          <a:ln w="12700">
            <a:solidFill>
              <a:srgbClr val="CBD5E1"/>
            </a:solidFill>
            <a:prstDash val="solid"/>
          </a:ln>
        </p:spPr>
      </p:sp>
      <p:sp>
        <p:nvSpPr>
          <p:cNvPr id="9" name="Text 6"/>
          <p:cNvSpPr/>
          <p:nvPr/>
        </p:nvSpPr>
        <p:spPr>
          <a:xfrm>
            <a:off x="6400800" y="3749040"/>
            <a:ext cx="4663440" cy="365760"/>
          </a:xfrm>
          <a:prstGeom prst="rect">
            <a:avLst/>
          </a:prstGeom>
          <a:noFill/>
          <a:ln/>
        </p:spPr>
        <p:txBody>
          <a:bodyPr wrap="square" rtlCol="0" anchor="ctr"/>
          <a:lstStyle/>
          <a:p>
            <a:pPr algn="ctr" indent="0" marL="0">
              <a:buNone/>
            </a:pPr>
            <a:r>
              <a:rPr lang="en-US" sz="1500" b="1" dirty="0">
                <a:solidFill>
                  <a:srgbClr val="475569"/>
                </a:solidFill>
                <a:latin typeface="Calibri" pitchFamily="34" charset="0"/>
                <a:ea typeface="Calibri" pitchFamily="34" charset="-122"/>
                <a:cs typeface="Calibri" pitchFamily="34" charset="-120"/>
              </a:rPr>
              <a:t>Aruba CX 6000: 5.4 tons weight reduction</a:t>
            </a:r>
            <a:endParaRPr lang="en-US" sz="1500" dirty="0"/>
          </a:p>
        </p:txBody>
      </p:sp>
      <p:sp>
        <p:nvSpPr>
          <p:cNvPr id="10" name="Text 7"/>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13 of 18</a:t>
            </a:r>
            <a:endParaRPr lang="en-US" sz="800" dirty="0"/>
          </a:p>
        </p:txBody>
      </p:sp>
      <p:sp>
        <p:nvSpPr>
          <p:cNvPr id="11" name="Text 8"/>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12" name="Shape 9"/>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Critical Limitations — Aruba CX 6000 (R8N89A)</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804672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Limitation</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Impact for Marine Environment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10G Uplinks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Creates backbone bottleneck if existing infrastructure uses 10G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Dynamic ARP Inspection</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Reduced security against ARP spoofing attacks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IP Source Guard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Reduced protection against IP address spoofing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DHCP Snooping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Cannot prevent rogue DHCP servers on the network</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MACsec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link-layer encryption for sensitive marine data</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NetFlow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per-flow traffic visibility or forensics capability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32 Gbps switching capacity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Half the capacity of CX 6100 / Cisco — may bottleneck under load</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No dynamic routing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Static routing only — no automatic failover for multi-deck topologies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14 of 18</a:t>
            </a:r>
            <a:endParaRPr lang="en-US" sz="800" dirty="0"/>
          </a:p>
        </p:txBody>
      </p:sp>
      <p:sp>
        <p:nvSpPr>
          <p:cNvPr id="6" name="Text 3"/>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7" name="Shape 4"/>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Critical Limitations — Aruba CX 6100 (JL679A)</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474720"/>
                <a:gridCol w="7772400"/>
              </a:tblGrid>
              <a:tr h="347472">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Limitation</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Impact for Marine Environment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47472">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PoE Budget 139W (vs Cisco 240W)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101W less — may not support all connected high-power PoE devices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MACsec-256</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link encryption for sensitive data between switches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No Perpetual / Fast PoE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PoE devices lose power during switch reboot</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NetFlow</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per-flow traffic visibility; sFlow is sampled only</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Cold Patching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Requires full reboot for software updates (longer downtime)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NBAR2 / AVC</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No application-level visibility for troubleshooting</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B47D1B"/>
                          </a:solidFill>
                          <a:latin typeface="Calibri" pitchFamily="34" charset="0"/>
                          <a:ea typeface="Calibri" pitchFamily="34" charset="-122"/>
                          <a:cs typeface="Calibri" pitchFamily="34" charset="-120"/>
                        </a:rPr>
                        <a:t>8K MAC Table (vs Cisco 32K)</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May be limiting for extremely dense ship deployments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47472">
                <a:tc>
                  <a:txBody>
                    <a:bodyPr/>
                    <a:lstStyle/>
                    <a:p>
                      <a:pPr indent="0" marL="0">
                        <a:buNone/>
                      </a:pPr>
                      <a:r>
                        <a:rPr lang="en-US" sz="1000" b="1" dirty="0">
                          <a:solidFill>
                            <a:srgbClr val="B91C1C"/>
                          </a:solidFill>
                          <a:latin typeface="Calibri" pitchFamily="34" charset="0"/>
                          <a:ea typeface="Calibri" pitchFamily="34" charset="-122"/>
                          <a:cs typeface="Calibri" pitchFamily="34" charset="-120"/>
                        </a:rPr>
                        <a:t>No DHCP Snooping / DAI</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Limited L2 security — no rogue DHCP or ARP spoofing protection</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47472">
                <a:tc>
                  <a:txBody>
                    <a:bodyPr/>
                    <a:lstStyle/>
                    <a:p>
                      <a:pPr indent="0" marL="0">
                        <a:buNone/>
                      </a:pPr>
                      <a:r>
                        <a:rPr lang="en-US" sz="1000" b="1" dirty="0">
                          <a:solidFill>
                            <a:srgbClr val="16824A"/>
                          </a:solidFill>
                          <a:latin typeface="Calibri" pitchFamily="34" charset="0"/>
                          <a:ea typeface="Calibri" pitchFamily="34" charset="-122"/>
                          <a:cs typeface="Calibri" pitchFamily="34" charset="-120"/>
                        </a:rPr>
                        <a:t>VSF stacking (advantage)</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00" dirty="0">
                          <a:solidFill>
                            <a:srgbClr val="1E293B"/>
                          </a:solidFill>
                          <a:latin typeface="Calibri" pitchFamily="34" charset="0"/>
                          <a:ea typeface="Calibri" pitchFamily="34" charset="-122"/>
                          <a:cs typeface="Calibri" pitchFamily="34" charset="-120"/>
                        </a:rPr>
                        <a:t>Reduces management complexity for 2,500 switches — Cisco C9200CX cannot do this</a:t>
                      </a:r>
                      <a:endParaRPr lang="en-US" sz="100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2"/>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15 of 18</a:t>
            </a:r>
            <a:endParaRPr lang="en-US" sz="800" dirty="0"/>
          </a:p>
        </p:txBody>
      </p:sp>
      <p:sp>
        <p:nvSpPr>
          <p:cNvPr id="6" name="Text 3"/>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7" name="Shape 4"/>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Marine-Environment Decision Points</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Pre-procurement actions required regardless of vendor selection</a:t>
            </a:r>
            <a:endParaRPr lang="en-US" sz="1100" dirty="0"/>
          </a:p>
        </p:txBody>
      </p:sp>
      <p:sp>
        <p:nvSpPr>
          <p:cNvPr id="5" name="Text 3"/>
          <p:cNvSpPr/>
          <p:nvPr/>
        </p:nvSpPr>
        <p:spPr>
          <a:xfrm>
            <a:off x="548640" y="1325880"/>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Marine certification (IEC 60945 / DNV)</a:t>
            </a:r>
            <a:endParaRPr lang="en-US" sz="1000" dirty="0"/>
          </a:p>
        </p:txBody>
      </p:sp>
      <p:sp>
        <p:nvSpPr>
          <p:cNvPr id="6" name="Text 4"/>
          <p:cNvSpPr/>
          <p:nvPr/>
        </p:nvSpPr>
        <p:spPr>
          <a:xfrm>
            <a:off x="3840480" y="1325880"/>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No reviewed source proved this for any of the three models. If compliance is mandatory, request written evidence or evaluate marine-grade alternatives (e.g., Moxa DNV-certified switches).</a:t>
            </a:r>
            <a:endParaRPr lang="en-US" sz="950" dirty="0"/>
          </a:p>
        </p:txBody>
      </p:sp>
      <p:sp>
        <p:nvSpPr>
          <p:cNvPr id="7" name="Text 5"/>
          <p:cNvSpPr/>
          <p:nvPr/>
        </p:nvSpPr>
        <p:spPr>
          <a:xfrm>
            <a:off x="548640" y="1801368"/>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Salt fog / corrosion (ASTM B117)</a:t>
            </a:r>
            <a:endParaRPr lang="en-US" sz="1000" dirty="0"/>
          </a:p>
        </p:txBody>
      </p:sp>
      <p:sp>
        <p:nvSpPr>
          <p:cNvPr id="8" name="Text 6"/>
          <p:cNvSpPr/>
          <p:nvPr/>
        </p:nvSpPr>
        <p:spPr>
          <a:xfrm>
            <a:off x="3840480" y="1801368"/>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Not published by Cisco or HPE for these models. Request conformal coating specs and salt-spray test reports.</a:t>
            </a:r>
            <a:endParaRPr lang="en-US" sz="950" dirty="0"/>
          </a:p>
        </p:txBody>
      </p:sp>
      <p:sp>
        <p:nvSpPr>
          <p:cNvPr id="9" name="Text 7"/>
          <p:cNvSpPr/>
          <p:nvPr/>
        </p:nvSpPr>
        <p:spPr>
          <a:xfrm>
            <a:off x="548640" y="2276856"/>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Shock &amp; vibration (MIL-STD-167)</a:t>
            </a:r>
            <a:endParaRPr lang="en-US" sz="1000" dirty="0"/>
          </a:p>
        </p:txBody>
      </p:sp>
      <p:sp>
        <p:nvSpPr>
          <p:cNvPr id="10" name="Text 8"/>
          <p:cNvSpPr/>
          <p:nvPr/>
        </p:nvSpPr>
        <p:spPr>
          <a:xfrm>
            <a:off x="3840480" y="2276856"/>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Shipboard vibration (5–13 Hz) not addressed in any reviewed datasheet. Request test reports from both vendors.</a:t>
            </a:r>
            <a:endParaRPr lang="en-US" sz="950" dirty="0"/>
          </a:p>
        </p:txBody>
      </p:sp>
      <p:sp>
        <p:nvSpPr>
          <p:cNvPr id="11" name="Text 9"/>
          <p:cNvSpPr/>
          <p:nvPr/>
        </p:nvSpPr>
        <p:spPr>
          <a:xfrm>
            <a:off x="548640" y="2752344"/>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MTBF for fleet planning</a:t>
            </a:r>
            <a:endParaRPr lang="en-US" sz="1000" dirty="0"/>
          </a:p>
        </p:txBody>
      </p:sp>
      <p:sp>
        <p:nvSpPr>
          <p:cNvPr id="12" name="Text 10"/>
          <p:cNvSpPr/>
          <p:nvPr/>
        </p:nvSpPr>
        <p:spPr>
          <a:xfrm>
            <a:off x="3840480" y="2752344"/>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Cisco publishes 553K–704K hours. HPE does not publish MTBF for CX 6000/6100 — request from HPE support.</a:t>
            </a:r>
            <a:endParaRPr lang="en-US" sz="950" dirty="0"/>
          </a:p>
        </p:txBody>
      </p:sp>
      <p:sp>
        <p:nvSpPr>
          <p:cNvPr id="13" name="Text 11"/>
          <p:cNvSpPr/>
          <p:nvPr/>
        </p:nvSpPr>
        <p:spPr>
          <a:xfrm>
            <a:off x="548640" y="3227832"/>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Connector corrosion</a:t>
            </a:r>
            <a:endParaRPr lang="en-US" sz="1000" dirty="0"/>
          </a:p>
        </p:txBody>
      </p:sp>
      <p:sp>
        <p:nvSpPr>
          <p:cNvPr id="14" name="Text 12"/>
          <p:cNvSpPr/>
          <p:nvPr/>
        </p:nvSpPr>
        <p:spPr>
          <a:xfrm>
            <a:off x="3840480" y="3227832"/>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No vendor specifies gold-plated or stainless connectors. Verify materials for marine air exposure.</a:t>
            </a:r>
            <a:endParaRPr lang="en-US" sz="950" dirty="0"/>
          </a:p>
        </p:txBody>
      </p:sp>
      <p:sp>
        <p:nvSpPr>
          <p:cNvPr id="15" name="Text 13"/>
          <p:cNvSpPr/>
          <p:nvPr/>
        </p:nvSpPr>
        <p:spPr>
          <a:xfrm>
            <a:off x="548640" y="3703320"/>
            <a:ext cx="3291840" cy="347472"/>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Spare parts strategy</a:t>
            </a:r>
            <a:endParaRPr lang="en-US" sz="1000" dirty="0"/>
          </a:p>
        </p:txBody>
      </p:sp>
      <p:sp>
        <p:nvSpPr>
          <p:cNvPr id="16" name="Text 14"/>
          <p:cNvSpPr/>
          <p:nvPr/>
        </p:nvSpPr>
        <p:spPr>
          <a:xfrm>
            <a:off x="3840480" y="3703320"/>
            <a:ext cx="7772400" cy="347472"/>
          </a:xfrm>
          <a:prstGeom prst="rect">
            <a:avLst/>
          </a:prstGeom>
          <a:noFill/>
          <a:ln/>
        </p:spPr>
        <p:txBody>
          <a:bodyPr wrap="square" rtlCol="0" anchor="ctr"/>
          <a:lstStyle/>
          <a:p>
            <a:pPr indent="0" marL="0">
              <a:buNone/>
            </a:pPr>
            <a:r>
              <a:rPr lang="en-US" sz="950" dirty="0">
                <a:solidFill>
                  <a:srgbClr val="475569"/>
                </a:solidFill>
                <a:latin typeface="Calibri" pitchFamily="34" charset="0"/>
                <a:ea typeface="Calibri" pitchFamily="34" charset="-122"/>
                <a:cs typeface="Calibri" pitchFamily="34" charset="-120"/>
              </a:rPr>
              <a:t>At 2,500 units/ship, recommend 5–10% spares (125–250 units) regardless of vendor.</a:t>
            </a:r>
            <a:endParaRPr lang="en-US" sz="950" dirty="0"/>
          </a:p>
        </p:txBody>
      </p:sp>
      <p:sp>
        <p:nvSpPr>
          <p:cNvPr id="17" name="Shape 15"/>
          <p:cNvSpPr/>
          <p:nvPr/>
        </p:nvSpPr>
        <p:spPr>
          <a:xfrm>
            <a:off x="457200" y="4663440"/>
            <a:ext cx="11247120" cy="594360"/>
          </a:xfrm>
          <a:prstGeom prst="roundRect">
            <a:avLst>
              <a:gd name="adj" fmla="val 6154"/>
            </a:avLst>
          </a:prstGeom>
          <a:solidFill>
            <a:srgbClr val="FEF7E8"/>
          </a:solidFill>
          <a:ln w="12700">
            <a:solidFill>
              <a:srgbClr val="E5C66D"/>
            </a:solidFill>
            <a:prstDash val="solid"/>
          </a:ln>
        </p:spPr>
      </p:sp>
      <p:sp>
        <p:nvSpPr>
          <p:cNvPr id="18" name="Text 16"/>
          <p:cNvSpPr/>
          <p:nvPr/>
        </p:nvSpPr>
        <p:spPr>
          <a:xfrm>
            <a:off x="640080" y="4800600"/>
            <a:ext cx="10881360" cy="320040"/>
          </a:xfrm>
          <a:prstGeom prst="rect">
            <a:avLst/>
          </a:prstGeom>
          <a:noFill/>
          <a:ln/>
        </p:spPr>
        <p:txBody>
          <a:bodyPr wrap="square" rtlCol="0" anchor="ctr"/>
          <a:lstStyle/>
          <a:p>
            <a:pPr indent="0" marL="0">
              <a:buNone/>
            </a:pPr>
            <a:r>
              <a:rPr lang="en-US" sz="1200" b="1" dirty="0">
                <a:solidFill>
                  <a:srgbClr val="B47D1B"/>
                </a:solidFill>
                <a:latin typeface="Calibri" pitchFamily="34" charset="0"/>
                <a:ea typeface="Calibri" pitchFamily="34" charset="-122"/>
                <a:cs typeface="Calibri" pitchFamily="34" charset="-120"/>
              </a:rPr>
              <a:t>ACTION: Before final selection, request written vendor evidence for vibration, corrosion, humidity, MTBF, and conformal coating.</a:t>
            </a:r>
            <a:endParaRPr lang="en-US" sz="1200" dirty="0"/>
          </a:p>
        </p:txBody>
      </p:sp>
      <p:sp>
        <p:nvSpPr>
          <p:cNvPr id="19" name="Text 17"/>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16 of 18</a:t>
            </a:r>
            <a:endParaRPr lang="en-US" sz="800" dirty="0"/>
          </a:p>
        </p:txBody>
      </p:sp>
      <p:sp>
        <p:nvSpPr>
          <p:cNvPr id="20" name="Text 18"/>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21" name="Shape 19"/>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Recommendation Matrix</a:t>
            </a:r>
            <a:endParaRPr lang="en-US" sz="2400" dirty="0"/>
          </a:p>
        </p:txBody>
      </p:sp>
      <p:sp>
        <p:nvSpPr>
          <p:cNvPr id="4" name="Text 2"/>
          <p:cNvSpPr/>
          <p:nvPr/>
        </p:nvSpPr>
        <p:spPr>
          <a:xfrm>
            <a:off x="548640" y="658368"/>
            <a:ext cx="10515600" cy="274320"/>
          </a:xfrm>
          <a:prstGeom prst="rect">
            <a:avLst/>
          </a:prstGeom>
          <a:noFill/>
          <a:ln/>
        </p:spPr>
        <p:txBody>
          <a:bodyPr wrap="square"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Neutral recommendation after all corrections applied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926080"/>
                <a:gridCol w="2560320"/>
                <a:gridCol w="576072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Scenario</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Recommended Switch</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Rationale</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B1F3F"/>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10G uplinks + PoE ≤ 139W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Aruba CX 6100 (JL679A)</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Retains 10G, lighter weight, VSF stacking. Verify PoE load first.</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10G uplinks + PoE &gt; 139W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E293B"/>
                          </a:solidFill>
                          <a:latin typeface="Calibri" pitchFamily="34" charset="0"/>
                          <a:ea typeface="Calibri" pitchFamily="34" charset="-122"/>
                          <a:cs typeface="Calibri" pitchFamily="34" charset="-120"/>
                        </a:rPr>
                        <a:t>Stay with 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cannot meet PoE requirements. No alternative in this comparison.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No 10G requirement + PoE ≤ 139W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CX 6000 (R8N89A)</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Lower cost, fanless, meets basic L2 access needs.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MACsec encryption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E293B"/>
                          </a:solidFill>
                          <a:latin typeface="Calibri" pitchFamily="34" charset="0"/>
                          <a:ea typeface="Calibri" pitchFamily="34" charset="-122"/>
                          <a:cs typeface="Calibri" pitchFamily="34" charset="-120"/>
                        </a:rPr>
                        <a:t>Stay with 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CX 6000/6100 do not support MACsec (requires CX 6200+).</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NetFlow / deep visibility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E293B"/>
                          </a:solidFill>
                          <a:latin typeface="Calibri" pitchFamily="34" charset="0"/>
                          <a:ea typeface="Calibri" pitchFamily="34" charset="-122"/>
                          <a:cs typeface="Calibri" pitchFamily="34" charset="-120"/>
                        </a:rPr>
                        <a:t>Stay with 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offers sFlow only (sampled, not per-flow).</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dynamic routing (OSPF/EIGRP)</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E293B"/>
                          </a:solidFill>
                          <a:latin typeface="Calibri" pitchFamily="34" charset="0"/>
                          <a:ea typeface="Calibri" pitchFamily="34" charset="-122"/>
                          <a:cs typeface="Calibri" pitchFamily="34" charset="-120"/>
                        </a:rPr>
                        <a:t>Stay with Cisco C9200CX</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Aruba CX 6000/6100 are Layer 2 + static routing only.</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stacking / management consolidation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Aruba CX 6100 (JL679A)</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CX 6100 supports 8-member VSF. Cisco C9200CX CANNOT stack.</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maximum weight reduction</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b="1" dirty="0">
                          <a:solidFill>
                            <a:srgbClr val="16824A"/>
                          </a:solidFill>
                          <a:latin typeface="Calibri" pitchFamily="34" charset="0"/>
                          <a:ea typeface="Calibri" pitchFamily="34" charset="-122"/>
                          <a:cs typeface="Calibri" pitchFamily="34" charset="-120"/>
                        </a:rPr>
                        <a:t>Aruba CX 6100 (JL679A)</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Lightest 10G-capable option: 0.47 lb/switch savings.</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84048">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Need marine-certified platform</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b="1" dirty="0">
                          <a:solidFill>
                            <a:srgbClr val="B91C1C"/>
                          </a:solidFill>
                          <a:latin typeface="Calibri" pitchFamily="34" charset="0"/>
                          <a:ea typeface="Calibri" pitchFamily="34" charset="-122"/>
                          <a:cs typeface="Calibri" pitchFamily="34" charset="-120"/>
                        </a:rPr>
                        <a:t>No validated winner</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950" dirty="0">
                          <a:solidFill>
                            <a:srgbClr val="1E293B"/>
                          </a:solidFill>
                          <a:latin typeface="Calibri" pitchFamily="34" charset="0"/>
                          <a:ea typeface="Calibri" pitchFamily="34" charset="-122"/>
                          <a:cs typeface="Calibri" pitchFamily="34" charset="-120"/>
                        </a:rPr>
                        <a:t>No reviewed source proved marine certification for any model.</a:t>
                      </a:r>
                      <a:endParaRPr lang="en-US" sz="950" dirty="0">
                        <a:latin typeface="Calibri" charset="0"/>
                        <a:ea typeface="Calibri" charset="0"/>
                        <a:cs typeface="Calibri" charset="0"/>
                      </a:endParaRPr>
                    </a:p>
                  </a:txBody>
                  <a:tcPr marL="73152" marR="73152" marT="36576" marB="36576"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Text 3"/>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17 of 18</a:t>
            </a:r>
            <a:endParaRPr lang="en-US" sz="800" dirty="0"/>
          </a:p>
        </p:txBody>
      </p:sp>
      <p:sp>
        <p:nvSpPr>
          <p:cNvPr id="7" name="Text 4"/>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8" name="Shape 5"/>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1051560"/>
          </a:xfrm>
          <a:prstGeom prst="rect">
            <a:avLst/>
          </a:prstGeom>
          <a:solidFill>
            <a:srgbClr val="0B1F3F"/>
          </a:solidFill>
          <a:ln/>
        </p:spPr>
      </p:sp>
      <p:sp>
        <p:nvSpPr>
          <p:cNvPr id="3" name="Text 1"/>
          <p:cNvSpPr/>
          <p:nvPr/>
        </p:nvSpPr>
        <p:spPr>
          <a:xfrm>
            <a:off x="548640" y="137160"/>
            <a:ext cx="10515600" cy="502920"/>
          </a:xfrm>
          <a:prstGeom prst="rect">
            <a:avLst/>
          </a:prstGeom>
          <a:noFill/>
          <a:ln/>
        </p:spPr>
        <p:txBody>
          <a:bodyPr wrap="square"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Sources &amp; Methodology</a:t>
            </a:r>
            <a:endParaRPr lang="en-US" sz="2400" dirty="0"/>
          </a:p>
        </p:txBody>
      </p:sp>
      <p:sp>
        <p:nvSpPr>
          <p:cNvPr id="4" name="Text 2"/>
          <p:cNvSpPr/>
          <p:nvPr/>
        </p:nvSpPr>
        <p:spPr>
          <a:xfrm>
            <a:off x="548640" y="1325880"/>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Cisco Catalyst 9200 Series Data Sheet</a:t>
            </a:r>
            <a:endParaRPr lang="en-US" sz="1000" dirty="0"/>
          </a:p>
        </p:txBody>
      </p:sp>
      <p:sp>
        <p:nvSpPr>
          <p:cNvPr id="5" name="Text 3"/>
          <p:cNvSpPr/>
          <p:nvPr/>
        </p:nvSpPr>
        <p:spPr>
          <a:xfrm>
            <a:off x="4206240" y="1325880"/>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cisco.com/c/en/us/products/collateral/switches/catalyst-9200-series-switches/nb-06-cat9200-ser-data-sheet-cte-en.html</a:t>
            </a:r>
            <a:endParaRPr lang="en-US" sz="900" dirty="0"/>
          </a:p>
        </p:txBody>
      </p:sp>
      <p:sp>
        <p:nvSpPr>
          <p:cNvPr id="6" name="Text 4"/>
          <p:cNvSpPr/>
          <p:nvPr/>
        </p:nvSpPr>
        <p:spPr>
          <a:xfrm>
            <a:off x="548640" y="1655064"/>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HPE Aruba CX 6100 Product Page</a:t>
            </a:r>
            <a:endParaRPr lang="en-US" sz="1000" dirty="0"/>
          </a:p>
        </p:txBody>
      </p:sp>
      <p:sp>
        <p:nvSpPr>
          <p:cNvPr id="7" name="Text 5"/>
          <p:cNvSpPr/>
          <p:nvPr/>
        </p:nvSpPr>
        <p:spPr>
          <a:xfrm>
            <a:off x="4206240" y="1655064"/>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buy.hpe.com/us/en/.../jl679a</a:t>
            </a:r>
            <a:endParaRPr lang="en-US" sz="900" dirty="0"/>
          </a:p>
        </p:txBody>
      </p:sp>
      <p:sp>
        <p:nvSpPr>
          <p:cNvPr id="8" name="Text 6"/>
          <p:cNvSpPr/>
          <p:nvPr/>
        </p:nvSpPr>
        <p:spPr>
          <a:xfrm>
            <a:off x="548640" y="1984248"/>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HPE Aruba CX 6000 Product Page</a:t>
            </a:r>
            <a:endParaRPr lang="en-US" sz="1000" dirty="0"/>
          </a:p>
        </p:txBody>
      </p:sp>
      <p:sp>
        <p:nvSpPr>
          <p:cNvPr id="9" name="Text 7"/>
          <p:cNvSpPr/>
          <p:nvPr/>
        </p:nvSpPr>
        <p:spPr>
          <a:xfrm>
            <a:off x="4206240" y="1984248"/>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buy.hpe.com/us/en/.../r8n89a</a:t>
            </a:r>
            <a:endParaRPr lang="en-US" sz="900" dirty="0"/>
          </a:p>
        </p:txBody>
      </p:sp>
      <p:sp>
        <p:nvSpPr>
          <p:cNvPr id="10" name="Text 8"/>
          <p:cNvSpPr/>
          <p:nvPr/>
        </p:nvSpPr>
        <p:spPr>
          <a:xfrm>
            <a:off x="548640" y="2313432"/>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HPE Aruba CX 6100 Data Sheet</a:t>
            </a:r>
            <a:endParaRPr lang="en-US" sz="1000" dirty="0"/>
          </a:p>
        </p:txBody>
      </p:sp>
      <p:sp>
        <p:nvSpPr>
          <p:cNvPr id="11" name="Text 9"/>
          <p:cNvSpPr/>
          <p:nvPr/>
        </p:nvSpPr>
        <p:spPr>
          <a:xfrm>
            <a:off x="4206240" y="2313432"/>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hpe.com/psnow/doc/a00106853enw</a:t>
            </a:r>
            <a:endParaRPr lang="en-US" sz="900" dirty="0"/>
          </a:p>
        </p:txBody>
      </p:sp>
      <p:sp>
        <p:nvSpPr>
          <p:cNvPr id="12" name="Text 10"/>
          <p:cNvSpPr/>
          <p:nvPr/>
        </p:nvSpPr>
        <p:spPr>
          <a:xfrm>
            <a:off x="548640" y="2642616"/>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HPE Aruba CX 6000 Data Sheet</a:t>
            </a:r>
            <a:endParaRPr lang="en-US" sz="1000" dirty="0"/>
          </a:p>
        </p:txBody>
      </p:sp>
      <p:sp>
        <p:nvSpPr>
          <p:cNvPr id="13" name="Text 11"/>
          <p:cNvSpPr/>
          <p:nvPr/>
        </p:nvSpPr>
        <p:spPr>
          <a:xfrm>
            <a:off x="4206240" y="2642616"/>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hpe.com/psnow/doc/a00112996enw</a:t>
            </a:r>
            <a:endParaRPr lang="en-US" sz="900" dirty="0"/>
          </a:p>
        </p:txBody>
      </p:sp>
      <p:sp>
        <p:nvSpPr>
          <p:cNvPr id="14" name="Text 12"/>
          <p:cNvSpPr/>
          <p:nvPr/>
        </p:nvSpPr>
        <p:spPr>
          <a:xfrm>
            <a:off x="548640" y="2971800"/>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Aruba AOS-CX Security Guide (6000/6100)</a:t>
            </a:r>
            <a:endParaRPr lang="en-US" sz="1000" dirty="0"/>
          </a:p>
        </p:txBody>
      </p:sp>
      <p:sp>
        <p:nvSpPr>
          <p:cNvPr id="15" name="Text 13"/>
          <p:cNvSpPr/>
          <p:nvPr/>
        </p:nvSpPr>
        <p:spPr>
          <a:xfrm>
            <a:off x="4206240" y="2971800"/>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arubanetworking.hpe.com/techdocs/AOS-CX/10.10/PDF/security_4100i-6000-6100.pdf</a:t>
            </a:r>
            <a:endParaRPr lang="en-US" sz="900" dirty="0"/>
          </a:p>
        </p:txBody>
      </p:sp>
      <p:sp>
        <p:nvSpPr>
          <p:cNvPr id="16" name="Text 14"/>
          <p:cNvSpPr/>
          <p:nvPr/>
        </p:nvSpPr>
        <p:spPr>
          <a:xfrm>
            <a:off x="548640" y="3300984"/>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Aruba AOS-CX IP Routing Guide (6000/6100)</a:t>
            </a:r>
            <a:endParaRPr lang="en-US" sz="1000" dirty="0"/>
          </a:p>
        </p:txBody>
      </p:sp>
      <p:sp>
        <p:nvSpPr>
          <p:cNvPr id="17" name="Text 15"/>
          <p:cNvSpPr/>
          <p:nvPr/>
        </p:nvSpPr>
        <p:spPr>
          <a:xfrm>
            <a:off x="4206240" y="3300984"/>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arubanetworking.hpe.com/techdocs/AOS-CX/10.13/PDF/ip_route_4100i-6000-6100-6200.pdf</a:t>
            </a:r>
            <a:endParaRPr lang="en-US" sz="900" dirty="0"/>
          </a:p>
        </p:txBody>
      </p:sp>
      <p:sp>
        <p:nvSpPr>
          <p:cNvPr id="18" name="Text 16"/>
          <p:cNvSpPr/>
          <p:nvPr/>
        </p:nvSpPr>
        <p:spPr>
          <a:xfrm>
            <a:off x="548640" y="3630168"/>
            <a:ext cx="3657600" cy="274320"/>
          </a:xfrm>
          <a:prstGeom prst="rect">
            <a:avLst/>
          </a:prstGeom>
          <a:noFill/>
          <a:ln/>
        </p:spPr>
        <p:txBody>
          <a:bodyPr wrap="square" rtlCol="0" anchor="ctr"/>
          <a:lstStyle/>
          <a:p>
            <a:pPr indent="0" marL="0">
              <a:buNone/>
            </a:pPr>
            <a:r>
              <a:rPr lang="en-US" sz="1000" b="1" dirty="0">
                <a:solidFill>
                  <a:srgbClr val="0B1F3F"/>
                </a:solidFill>
                <a:latin typeface="Calibri" pitchFamily="34" charset="0"/>
                <a:ea typeface="Calibri" pitchFamily="34" charset="-122"/>
                <a:cs typeface="Calibri" pitchFamily="34" charset="-120"/>
              </a:rPr>
              <a:t>Cisco C9200CX Hardware Installation Guide</a:t>
            </a:r>
            <a:endParaRPr lang="en-US" sz="1000" dirty="0"/>
          </a:p>
        </p:txBody>
      </p:sp>
      <p:sp>
        <p:nvSpPr>
          <p:cNvPr id="19" name="Text 17"/>
          <p:cNvSpPr/>
          <p:nvPr/>
        </p:nvSpPr>
        <p:spPr>
          <a:xfrm>
            <a:off x="4206240" y="3630168"/>
            <a:ext cx="7498080" cy="274320"/>
          </a:xfrm>
          <a:prstGeom prst="rect">
            <a:avLst/>
          </a:prstGeom>
          <a:noFill/>
          <a:ln/>
        </p:spPr>
        <p:txBody>
          <a:bodyPr wrap="square" rtlCol="0" anchor="ctr"/>
          <a:lstStyle/>
          <a:p>
            <a:pPr indent="0" marL="0">
              <a:buNone/>
            </a:pPr>
            <a:r>
              <a:rPr lang="en-US" sz="900" dirty="0">
                <a:solidFill>
                  <a:srgbClr val="1B5FAA"/>
                </a:solidFill>
                <a:latin typeface="Calibri" pitchFamily="34" charset="0"/>
                <a:ea typeface="Calibri" pitchFamily="34" charset="-122"/>
                <a:cs typeface="Calibri" pitchFamily="34" charset="-120"/>
              </a:rPr>
              <a:t>cisco.com/c/en/us/td/docs/switches/lan/catalyst9200/hardware/install/b-c9200cx-hig</a:t>
            </a:r>
            <a:endParaRPr lang="en-US" sz="900" dirty="0"/>
          </a:p>
        </p:txBody>
      </p:sp>
      <p:sp>
        <p:nvSpPr>
          <p:cNvPr id="20" name="Shape 18"/>
          <p:cNvSpPr/>
          <p:nvPr/>
        </p:nvSpPr>
        <p:spPr>
          <a:xfrm>
            <a:off x="457200" y="4754880"/>
            <a:ext cx="11247120" cy="1097280"/>
          </a:xfrm>
          <a:prstGeom prst="roundRect">
            <a:avLst>
              <a:gd name="adj" fmla="val 3333"/>
            </a:avLst>
          </a:prstGeom>
          <a:solidFill>
            <a:srgbClr val="F1F5F9"/>
          </a:solidFill>
          <a:ln w="12700">
            <a:solidFill>
              <a:srgbClr val="CBD5E1"/>
            </a:solidFill>
            <a:prstDash val="solid"/>
          </a:ln>
        </p:spPr>
      </p:sp>
      <p:sp>
        <p:nvSpPr>
          <p:cNvPr id="21" name="Text 19"/>
          <p:cNvSpPr/>
          <p:nvPr/>
        </p:nvSpPr>
        <p:spPr>
          <a:xfrm>
            <a:off x="640080" y="4892040"/>
            <a:ext cx="2743200" cy="274320"/>
          </a:xfrm>
          <a:prstGeom prst="rect">
            <a:avLst/>
          </a:prstGeom>
          <a:noFill/>
          <a:ln/>
        </p:spPr>
        <p:txBody>
          <a:bodyPr wrap="square" rtlCol="0" anchor="ctr"/>
          <a:lstStyle/>
          <a:p>
            <a:pPr indent="0" marL="0">
              <a:buNone/>
            </a:pPr>
            <a:r>
              <a:rPr lang="en-US" sz="1200" b="1" dirty="0">
                <a:solidFill>
                  <a:srgbClr val="0B1F3F"/>
                </a:solidFill>
                <a:latin typeface="Calibri" pitchFamily="34" charset="0"/>
                <a:ea typeface="Calibri" pitchFamily="34" charset="-122"/>
                <a:cs typeface="Calibri" pitchFamily="34" charset="-120"/>
              </a:rPr>
              <a:t>Methodology</a:t>
            </a:r>
            <a:endParaRPr lang="en-US" sz="1200" dirty="0"/>
          </a:p>
        </p:txBody>
      </p:sp>
      <p:sp>
        <p:nvSpPr>
          <p:cNvPr id="22" name="Text 20"/>
          <p:cNvSpPr/>
          <p:nvPr/>
        </p:nvSpPr>
        <p:spPr>
          <a:xfrm>
            <a:off x="640080" y="5212080"/>
            <a:ext cx="10881360" cy="50292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All specifications were validated against official vendor datasheets and product pages. Cisco competitive marketing slides were noted but not treated as neutral evidence. Community forum opinions were excluded from the specifications tables. Where data was unavailable, slides state "not published" rather than estimating. Corrections are highlighted in amber throughout the deck.</a:t>
            </a:r>
            <a:endParaRPr lang="en-US" sz="1000" dirty="0"/>
          </a:p>
        </p:txBody>
      </p:sp>
      <p:sp>
        <p:nvSpPr>
          <p:cNvPr id="23" name="Text 21"/>
          <p:cNvSpPr/>
          <p:nvPr/>
        </p:nvSpPr>
        <p:spPr>
          <a:xfrm>
            <a:off x="548640" y="6446520"/>
            <a:ext cx="7315200" cy="22860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Carnival | Cisco C9200CX Replacement Analysis | Slide 18 of 18</a:t>
            </a:r>
            <a:endParaRPr lang="en-US" sz="800" dirty="0"/>
          </a:p>
        </p:txBody>
      </p:sp>
      <p:sp>
        <p:nvSpPr>
          <p:cNvPr id="24" name="Text 22"/>
          <p:cNvSpPr/>
          <p:nvPr/>
        </p:nvSpPr>
        <p:spPr>
          <a:xfrm>
            <a:off x="9601200" y="6446520"/>
            <a:ext cx="2103120" cy="22860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Validated March 2026</a:t>
            </a:r>
            <a:endParaRPr lang="en-US" sz="800" dirty="0"/>
          </a:p>
        </p:txBody>
      </p:sp>
      <p:sp>
        <p:nvSpPr>
          <p:cNvPr id="25" name="Shape 23"/>
          <p:cNvSpPr/>
          <p:nvPr/>
        </p:nvSpPr>
        <p:spPr>
          <a:xfrm>
            <a:off x="548640" y="6419088"/>
            <a:ext cx="11064240" cy="0"/>
          </a:xfrm>
          <a:prstGeom prst="line">
            <a:avLst/>
          </a:prstGeom>
          <a:noFill/>
          <a:ln w="12700">
            <a:solidFill>
              <a:srgbClr val="CBD5E1"/>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Carnival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C9200CX-12P-2X2G-E Replacement Analysis</dc:title>
  <dc:subject>Cisco C9200CX Replacement Analysis - Corrected &amp; Validated</dc:subject>
  <dc:creator>Carnival Network Engineering</dc:creator>
  <cp:lastModifiedBy>Carnival Network Engineering</cp:lastModifiedBy>
  <cp:revision>1</cp:revision>
  <dcterms:created xsi:type="dcterms:W3CDTF">2026-03-24T17:24:46Z</dcterms:created>
  <dcterms:modified xsi:type="dcterms:W3CDTF">2026-03-24T17:24:46Z</dcterms:modified>
</cp:coreProperties>
</file>