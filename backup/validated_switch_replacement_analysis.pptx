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94360" y="731520"/>
            <a:ext cx="8138160" cy="731520"/>
          </a:xfrm>
          <a:prstGeom prst="rect">
            <a:avLst/>
          </a:prstGeom>
          <a:noFill/>
          <a:ln/>
        </p:spPr>
        <p:txBody>
          <a:bodyPr wrap="square" rtlCol="0" anchor="ctr"/>
          <a:lstStyle/>
          <a:p>
            <a:pPr indent="0" marL="0">
              <a:buNone/>
            </a:pPr>
            <a:r>
              <a:rPr lang="en-US" sz="2800" b="1" dirty="0">
                <a:solidFill>
                  <a:srgbClr val="0F2747"/>
                </a:solidFill>
                <a:latin typeface="Arial" pitchFamily="34" charset="0"/>
                <a:ea typeface="Arial" pitchFamily="34" charset="-122"/>
                <a:cs typeface="Arial" pitchFamily="34" charset="-120"/>
              </a:rPr>
              <a:t>Validated Replacement Analysis</a:t>
            </a:r>
            <a:endParaRPr lang="en-US" sz="2800" dirty="0"/>
          </a:p>
        </p:txBody>
      </p:sp>
      <p:sp>
        <p:nvSpPr>
          <p:cNvPr id="4" name="Text 2"/>
          <p:cNvSpPr/>
          <p:nvPr/>
        </p:nvSpPr>
        <p:spPr>
          <a:xfrm>
            <a:off x="594360" y="1554480"/>
            <a:ext cx="10241280" cy="548640"/>
          </a:xfrm>
          <a:prstGeom prst="rect">
            <a:avLst/>
          </a:prstGeom>
          <a:noFill/>
          <a:ln/>
        </p:spPr>
        <p:txBody>
          <a:bodyPr wrap="square" rtlCol="0" anchor="ctr"/>
          <a:lstStyle/>
          <a:p>
            <a:pPr indent="0" marL="0">
              <a:buNone/>
            </a:pPr>
            <a:r>
              <a:rPr lang="en-US" sz="1800" b="1" dirty="0">
                <a:solidFill>
                  <a:srgbClr val="1F2937"/>
                </a:solidFill>
                <a:latin typeface="Arial" pitchFamily="34" charset="0"/>
                <a:ea typeface="Arial" pitchFamily="34" charset="-122"/>
                <a:cs typeface="Arial" pitchFamily="34" charset="-120"/>
              </a:rPr>
              <a:t>Cisco C9200CX-12P-2X2G-E vs Aruba CX 6100 (JL679A) vs Aruba CX 6000 (R8N89A)</a:t>
            </a:r>
            <a:endParaRPr lang="en-US" sz="1800" dirty="0"/>
          </a:p>
        </p:txBody>
      </p:sp>
      <p:sp>
        <p:nvSpPr>
          <p:cNvPr id="5" name="Text 3"/>
          <p:cNvSpPr/>
          <p:nvPr/>
        </p:nvSpPr>
        <p:spPr>
          <a:xfrm>
            <a:off x="594360" y="2331720"/>
            <a:ext cx="7498080" cy="8229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Professional fact-check based on vendor sources reviewed on 2026-03-24.</a:t>
            </a:r>
            <a:endParaRPr lang="en-US" sz="1300" dirty="0"/>
          </a:p>
          <a:p>
            <a:pPr indent="0" marL="0">
              <a:buNone/>
            </a:pPr>
            <a:r>
              <a:rPr lang="en-US" sz="1300" dirty="0">
                <a:solidFill>
                  <a:srgbClr val="6B7280"/>
                </a:solidFill>
                <a:latin typeface="Arial" pitchFamily="34" charset="0"/>
                <a:ea typeface="Arial" pitchFamily="34" charset="-122"/>
                <a:cs typeface="Arial" pitchFamily="34" charset="-120"/>
              </a:rPr>
              <a:t>Scope: shipboard deployment considerations, weight, PoE, uplinks, operations, and risk caveats.</a:t>
            </a:r>
            <a:endParaRPr lang="en-US" sz="1300" dirty="0"/>
          </a:p>
        </p:txBody>
      </p:sp>
      <p:sp>
        <p:nvSpPr>
          <p:cNvPr id="6" name="Shape 4"/>
          <p:cNvSpPr/>
          <p:nvPr/>
        </p:nvSpPr>
        <p:spPr>
          <a:xfrm>
            <a:off x="8595360" y="914400"/>
            <a:ext cx="2651760" cy="1005840"/>
          </a:xfrm>
          <a:prstGeom prst="roundRect">
            <a:avLst>
              <a:gd name="adj" fmla="val 7273"/>
            </a:avLst>
          </a:prstGeom>
          <a:solidFill>
            <a:srgbClr val="F3F6FB"/>
          </a:solidFill>
          <a:ln w="12700">
            <a:solidFill>
              <a:srgbClr val="D1D5DB"/>
            </a:solidFill>
            <a:prstDash val="solid"/>
          </a:ln>
        </p:spPr>
      </p:sp>
      <p:sp>
        <p:nvSpPr>
          <p:cNvPr id="7" name="Text 5"/>
          <p:cNvSpPr/>
          <p:nvPr/>
        </p:nvSpPr>
        <p:spPr>
          <a:xfrm>
            <a:off x="8869680" y="1143000"/>
            <a:ext cx="2103120" cy="548640"/>
          </a:xfrm>
          <a:prstGeom prst="rect">
            <a:avLst/>
          </a:prstGeom>
          <a:noFill/>
          <a:ln/>
        </p:spPr>
        <p:txBody>
          <a:bodyPr wrap="square" rtlCol="0" anchor="ctr"/>
          <a:lstStyle/>
          <a:p>
            <a:pPr algn="ctr" indent="0" marL="0">
              <a:buNone/>
            </a:pPr>
            <a:r>
              <a:rPr lang="en-US" sz="1600" b="1" dirty="0">
                <a:solidFill>
                  <a:srgbClr val="C0392B"/>
                </a:solidFill>
                <a:latin typeface="Arial" pitchFamily="34" charset="0"/>
                <a:ea typeface="Arial" pitchFamily="34" charset="-122"/>
                <a:cs typeface="Arial" pitchFamily="34" charset="-120"/>
              </a:rPr>
              <a:t>Key outcome</a:t>
            </a:r>
            <a:endParaRPr lang="en-US" sz="1600" dirty="0"/>
          </a:p>
          <a:p>
            <a:pPr algn="ctr" indent="0" marL="0">
              <a:buNone/>
            </a:pPr>
            <a:r>
              <a:rPr lang="en-US" sz="1600" b="1" dirty="0">
                <a:solidFill>
                  <a:srgbClr val="C0392B"/>
                </a:solidFill>
                <a:latin typeface="Arial" pitchFamily="34" charset="0"/>
                <a:ea typeface="Arial" pitchFamily="34" charset="-122"/>
                <a:cs typeface="Arial" pitchFamily="34" charset="-120"/>
              </a:rPr>
              <a:t>Original deck contains multiple material errors</a:t>
            </a:r>
            <a:endParaRPr lang="en-US" sz="1600" dirty="0"/>
          </a:p>
        </p:txBody>
      </p:sp>
      <p:sp>
        <p:nvSpPr>
          <p:cNvPr id="8" name="Text 6"/>
          <p:cNvSpPr/>
          <p:nvPr/>
        </p:nvSpPr>
        <p:spPr>
          <a:xfrm>
            <a:off x="731520" y="3657600"/>
            <a:ext cx="1060704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Cisco C9200CX compact model does not support StackWise stacking.</a:t>
            </a:r>
            <a:endParaRPr lang="en-US" sz="1700" dirty="0"/>
          </a:p>
        </p:txBody>
      </p:sp>
      <p:sp>
        <p:nvSpPr>
          <p:cNvPr id="9" name="Text 7"/>
          <p:cNvSpPr/>
          <p:nvPr/>
        </p:nvSpPr>
        <p:spPr>
          <a:xfrm>
            <a:off x="731520" y="4041648"/>
            <a:ext cx="1060704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Aruba CX 6100 does support VSF stacking per HPE product information.</a:t>
            </a:r>
            <a:endParaRPr lang="en-US" sz="1700" dirty="0"/>
          </a:p>
        </p:txBody>
      </p:sp>
      <p:sp>
        <p:nvSpPr>
          <p:cNvPr id="10" name="Text 8"/>
          <p:cNvSpPr/>
          <p:nvPr/>
        </p:nvSpPr>
        <p:spPr>
          <a:xfrm>
            <a:off x="731520" y="4425696"/>
            <a:ext cx="1060704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Aruba CX 6000 remains 1G-uplink only on the selected model.</a:t>
            </a:r>
            <a:endParaRPr lang="en-US" sz="1700" dirty="0"/>
          </a:p>
        </p:txBody>
      </p:sp>
      <p:sp>
        <p:nvSpPr>
          <p:cNvPr id="11" name="Text 9"/>
          <p:cNvSpPr/>
          <p:nvPr/>
        </p:nvSpPr>
        <p:spPr>
          <a:xfrm>
            <a:off x="731520" y="4809744"/>
            <a:ext cx="1060704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Only Cisco provides officially stated 240W PoE on this compact model and AES-256 MACsec in the reviewed sources.</a:t>
            </a:r>
            <a:endParaRPr lang="en-US" sz="1700" dirty="0"/>
          </a:p>
        </p:txBody>
      </p:sp>
      <p:sp>
        <p:nvSpPr>
          <p:cNvPr id="12" name="Text 10"/>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Executive summary</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Corrected headline findings from official Cisco and HPE Aruba pages/datasheets reviewed.</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sp>
        <p:nvSpPr>
          <p:cNvPr id="5" name="Text 3"/>
          <p:cNvSpPr/>
          <p:nvPr/>
        </p:nvSpPr>
        <p:spPr>
          <a:xfrm>
            <a:off x="731520" y="1463040"/>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If 10G uplinks and low weight are required, Aruba CX 6100 is the closest Aruba fit.</a:t>
            </a:r>
            <a:endParaRPr lang="en-US" sz="1700" dirty="0"/>
          </a:p>
        </p:txBody>
      </p:sp>
      <p:sp>
        <p:nvSpPr>
          <p:cNvPr id="6" name="Text 4"/>
          <p:cNvSpPr/>
          <p:nvPr/>
        </p:nvSpPr>
        <p:spPr>
          <a:xfrm>
            <a:off x="731520" y="1847088"/>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If higher PoE headroom, dynamic L3 features, or MACsec are required, Cisco remains stronger.</a:t>
            </a:r>
            <a:endParaRPr lang="en-US" sz="1700" dirty="0"/>
          </a:p>
        </p:txBody>
      </p:sp>
      <p:sp>
        <p:nvSpPr>
          <p:cNvPr id="7" name="Text 5"/>
          <p:cNvSpPr/>
          <p:nvPr/>
        </p:nvSpPr>
        <p:spPr>
          <a:xfrm>
            <a:off x="731520" y="2231136"/>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If management-plane consolidation is important, Aruba CX 6100 gains an advantage because HPE states 8-member VSF support.</a:t>
            </a:r>
            <a:endParaRPr lang="en-US" sz="1700" dirty="0"/>
          </a:p>
        </p:txBody>
      </p:sp>
      <p:sp>
        <p:nvSpPr>
          <p:cNvPr id="8" name="Text 6"/>
          <p:cNvSpPr/>
          <p:nvPr/>
        </p:nvSpPr>
        <p:spPr>
          <a:xfrm>
            <a:off x="731520" y="2615184"/>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If the environment requires marine certification, none of the reviewed vendor sources showed IEC 60945 / DNV certification for these models.</a:t>
            </a:r>
            <a:endParaRPr lang="en-US" sz="1700" dirty="0"/>
          </a:p>
        </p:txBody>
      </p:sp>
      <p:sp>
        <p:nvSpPr>
          <p:cNvPr id="9" name="Shape 7"/>
          <p:cNvSpPr/>
          <p:nvPr/>
        </p:nvSpPr>
        <p:spPr>
          <a:xfrm>
            <a:off x="731520" y="3931920"/>
            <a:ext cx="3474720" cy="1188720"/>
          </a:xfrm>
          <a:prstGeom prst="roundRect">
            <a:avLst>
              <a:gd name="adj" fmla="val 3077"/>
            </a:avLst>
          </a:prstGeom>
          <a:solidFill>
            <a:srgbClr val="EEF7EE"/>
          </a:solidFill>
          <a:ln w="12700">
            <a:solidFill>
              <a:srgbClr val="B7E1C0"/>
            </a:solidFill>
            <a:prstDash val="solid"/>
          </a:ln>
        </p:spPr>
      </p:sp>
      <p:sp>
        <p:nvSpPr>
          <p:cNvPr id="10" name="Text 8"/>
          <p:cNvSpPr/>
          <p:nvPr/>
        </p:nvSpPr>
        <p:spPr>
          <a:xfrm>
            <a:off x="914400" y="4206240"/>
            <a:ext cx="3108960" cy="731520"/>
          </a:xfrm>
          <a:prstGeom prst="rect">
            <a:avLst/>
          </a:prstGeom>
          <a:noFill/>
          <a:ln/>
        </p:spPr>
        <p:txBody>
          <a:bodyPr wrap="square" rtlCol="0" anchor="ctr"/>
          <a:lstStyle/>
          <a:p>
            <a:pPr algn="ctr" indent="0" marL="0">
              <a:buNone/>
            </a:pPr>
            <a:r>
              <a:rPr lang="en-US" sz="1800" b="1" dirty="0">
                <a:solidFill>
                  <a:srgbClr val="0F9D58"/>
                </a:solidFill>
              </a:rPr>
              <a:t>Best Aruba replacement</a:t>
            </a:r>
            <a:endParaRPr lang="en-US" sz="1800" dirty="0"/>
          </a:p>
          <a:p>
            <a:pPr algn="ctr" indent="0" marL="0">
              <a:buNone/>
            </a:pPr>
            <a:r>
              <a:rPr lang="en-US" sz="1800" b="1" dirty="0">
                <a:solidFill>
                  <a:srgbClr val="0F9D58"/>
                </a:solidFill>
              </a:rPr>
              <a:t>Aruba CX 6100 JL679A</a:t>
            </a:r>
            <a:endParaRPr lang="en-US" sz="1800" dirty="0"/>
          </a:p>
          <a:p>
            <a:pPr algn="ctr" indent="0" marL="0">
              <a:buNone/>
            </a:pPr>
            <a:r>
              <a:rPr lang="en-US" sz="1800" b="1" dirty="0">
                <a:solidFill>
                  <a:srgbClr val="0F9D58"/>
                </a:solidFill>
              </a:rPr>
              <a:t>for 10G uplinks + lower weight</a:t>
            </a:r>
            <a:endParaRPr lang="en-US" sz="1800" dirty="0"/>
          </a:p>
        </p:txBody>
      </p:sp>
      <p:sp>
        <p:nvSpPr>
          <p:cNvPr id="11" name="Shape 9"/>
          <p:cNvSpPr/>
          <p:nvPr/>
        </p:nvSpPr>
        <p:spPr>
          <a:xfrm>
            <a:off x="4389120" y="3931920"/>
            <a:ext cx="3474720" cy="1188720"/>
          </a:xfrm>
          <a:prstGeom prst="roundRect">
            <a:avLst>
              <a:gd name="adj" fmla="val 3077"/>
            </a:avLst>
          </a:prstGeom>
          <a:solidFill>
            <a:srgbClr val="FEF3E8"/>
          </a:solidFill>
          <a:ln w="12700">
            <a:solidFill>
              <a:srgbClr val="F5C68A"/>
            </a:solidFill>
            <a:prstDash val="solid"/>
          </a:ln>
        </p:spPr>
      </p:sp>
      <p:sp>
        <p:nvSpPr>
          <p:cNvPr id="12" name="Text 10"/>
          <p:cNvSpPr/>
          <p:nvPr/>
        </p:nvSpPr>
        <p:spPr>
          <a:xfrm>
            <a:off x="4572000" y="4206240"/>
            <a:ext cx="3108960" cy="731520"/>
          </a:xfrm>
          <a:prstGeom prst="rect">
            <a:avLst/>
          </a:prstGeom>
          <a:noFill/>
          <a:ln/>
        </p:spPr>
        <p:txBody>
          <a:bodyPr wrap="square" rtlCol="0" anchor="ctr"/>
          <a:lstStyle/>
          <a:p>
            <a:pPr algn="ctr" indent="0" marL="0">
              <a:buNone/>
            </a:pPr>
            <a:r>
              <a:rPr lang="en-US" sz="1800" b="1" dirty="0">
                <a:solidFill>
                  <a:srgbClr val="B7791F"/>
                </a:solidFill>
              </a:rPr>
              <a:t>Best capability</a:t>
            </a:r>
            <a:endParaRPr lang="en-US" sz="1800" dirty="0"/>
          </a:p>
          <a:p>
            <a:pPr algn="ctr" indent="0" marL="0">
              <a:buNone/>
            </a:pPr>
            <a:r>
              <a:rPr lang="en-US" sz="1800" b="1" dirty="0">
                <a:solidFill>
                  <a:srgbClr val="B7791F"/>
                </a:solidFill>
              </a:rPr>
              <a:t>Cisco C9200CX</a:t>
            </a:r>
            <a:endParaRPr lang="en-US" sz="1800" dirty="0"/>
          </a:p>
          <a:p>
            <a:pPr algn="ctr" indent="0" marL="0">
              <a:buNone/>
            </a:pPr>
            <a:r>
              <a:rPr lang="en-US" sz="1800" b="1" dirty="0">
                <a:solidFill>
                  <a:srgbClr val="B7791F"/>
                </a:solidFill>
              </a:rPr>
              <a:t>for PoE / MACsec / richer L3</a:t>
            </a:r>
            <a:endParaRPr lang="en-US" sz="1800" dirty="0"/>
          </a:p>
        </p:txBody>
      </p:sp>
      <p:sp>
        <p:nvSpPr>
          <p:cNvPr id="13" name="Shape 11"/>
          <p:cNvSpPr/>
          <p:nvPr/>
        </p:nvSpPr>
        <p:spPr>
          <a:xfrm>
            <a:off x="8046720" y="3931920"/>
            <a:ext cx="3474720" cy="1188720"/>
          </a:xfrm>
          <a:prstGeom prst="roundRect">
            <a:avLst>
              <a:gd name="adj" fmla="val 3077"/>
            </a:avLst>
          </a:prstGeom>
          <a:solidFill>
            <a:srgbClr val="FDEEEE"/>
          </a:solidFill>
          <a:ln w="12700">
            <a:solidFill>
              <a:srgbClr val="F0B4B1"/>
            </a:solidFill>
            <a:prstDash val="solid"/>
          </a:ln>
        </p:spPr>
      </p:sp>
      <p:sp>
        <p:nvSpPr>
          <p:cNvPr id="14" name="Text 12"/>
          <p:cNvSpPr/>
          <p:nvPr/>
        </p:nvSpPr>
        <p:spPr>
          <a:xfrm>
            <a:off x="8229600" y="4206240"/>
            <a:ext cx="3108960" cy="731520"/>
          </a:xfrm>
          <a:prstGeom prst="rect">
            <a:avLst/>
          </a:prstGeom>
          <a:noFill/>
          <a:ln/>
        </p:spPr>
        <p:txBody>
          <a:bodyPr wrap="square" rtlCol="0" anchor="ctr"/>
          <a:lstStyle/>
          <a:p>
            <a:pPr algn="ctr" indent="0" marL="0">
              <a:buNone/>
            </a:pPr>
            <a:r>
              <a:rPr lang="en-US" sz="1800" b="1" dirty="0">
                <a:solidFill>
                  <a:srgbClr val="C0392B"/>
                </a:solidFill>
              </a:rPr>
              <a:t>Best caveat</a:t>
            </a:r>
            <a:endParaRPr lang="en-US" sz="1800" dirty="0"/>
          </a:p>
          <a:p>
            <a:pPr algn="ctr" indent="0" marL="0">
              <a:buNone/>
            </a:pPr>
            <a:r>
              <a:rPr lang="en-US" sz="1800" b="1" dirty="0">
                <a:solidFill>
                  <a:srgbClr val="C0392B"/>
                </a:solidFill>
              </a:rPr>
              <a:t>No model is proven marine-certified</a:t>
            </a:r>
            <a:endParaRPr lang="en-US" sz="1800" dirty="0"/>
          </a:p>
          <a:p>
            <a:pPr algn="ctr" indent="0" marL="0">
              <a:buNone/>
            </a:pPr>
            <a:r>
              <a:rPr lang="en-US" sz="1800" b="1" dirty="0">
                <a:solidFill>
                  <a:srgbClr val="C0392B"/>
                </a:solidFill>
              </a:rPr>
              <a:t>in reviewed vendor material</a:t>
            </a:r>
            <a:endParaRPr lang="en-US" sz="1800" dirty="0"/>
          </a:p>
        </p:txBody>
      </p:sp>
      <p:sp>
        <p:nvSpPr>
          <p:cNvPr id="15" name="Text 13"/>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Validated specification snapshot</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Only values supported by reviewed official product pages / vendor datasheets are shown here.</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064240" cy="914400"/>
        </p:xfrm>
        <a:graphic>
          <a:graphicData uri="http://schemas.openxmlformats.org/drawingml/2006/table">
            <a:tbl>
              <a:tblPr/>
              <a:tblGrid>
                <a:gridCol w="2103120"/>
                <a:gridCol w="2926080"/>
                <a:gridCol w="2743200"/>
                <a:gridCol w="274320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Cisco C9200CX-12P-2X2G-E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Aruba CX 6100 JL679A</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Aruba CX 6000 R8N89A</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Weight</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6.6 lb (2.99 kg)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6.13 lb (2.78 kg)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6.17 lb (2.80 kg)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Downlinks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12x 1G PoE+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12x 1G Class 4 PoE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12x 1G Class 4 PoE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Uplinks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2x 10G SFP+ + 2x 1G copper</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2x 1/10GbE SFP+ + 2x 1G copper</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2x 1G SFP + 2x 1G copper</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PoE budget</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240W</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139W</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139W</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Switching capacity</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68 Gbps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68 Gbps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32 Gbps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Forwarding rate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50.59 Mpps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45.1 Mpps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23.8 Mpps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Software family</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Cisco IOS XE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AOS-CX</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AOS-CX</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Cooling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Fanless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Fanless 12-port model</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Fanless 12-port model</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What in the original deck was not true</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Material corrections that change the recommendation narrative.</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11292840" cy="914400"/>
        </p:xfrm>
        <a:graphic>
          <a:graphicData uri="http://schemas.openxmlformats.org/drawingml/2006/table">
            <a:tbl>
              <a:tblPr/>
              <a:tblGrid>
                <a:gridCol w="3749040"/>
                <a:gridCol w="1097280"/>
                <a:gridCol w="640080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Original claim</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Correction</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Cisco C9200CX provides StackWise stacking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False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Cisco 9200 datasheet explicitly states stacking is not available on C9200CX switches.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Aruba CX 6100 has no stacking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False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HPE store page states 8-member VSF stacking for CX 6100 series.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Aruba CX 6000/6100 both lack stacking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Partly false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Confirmed false for CX 6100; not confirmed for R8N89A in reviewed HPE material.</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CX 6000 has 6.13 lb weight</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False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Reviewed parsed deck also used 6.17 lb elsewhere; final deck uses 6.17 lb for R8N89A.</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Competitive slide claims should be treated as facts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Misleading</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Cisco competitive positioning slides are marketing, not neutral proof; keep them separate from validated specifications.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Operational and protocol comparison</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Kept intentionally conservative: only items supported in reviewed vendor material or clearly caveated.</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11521440" cy="914400"/>
        </p:xfrm>
        <a:graphic>
          <a:graphicData uri="http://schemas.openxmlformats.org/drawingml/2006/table">
            <a:tbl>
              <a:tblPr/>
              <a:tblGrid>
                <a:gridCol w="1920240"/>
                <a:gridCol w="3154680"/>
                <a:gridCol w="3154680"/>
                <a:gridCol w="3154680"/>
              </a:tblGrid>
              <a:tr h="329184">
                <a:tc>
                  <a:txBody>
                    <a:bodyPr/>
                    <a:lstStyle/>
                    <a:p>
                      <a:pPr indent="0" marL="0">
                        <a:buNone/>
                      </a:pPr>
                      <a:r>
                        <a:rPr lang="en-US" sz="900" b="1" dirty="0">
                          <a:solidFill>
                            <a:srgbClr val="FFFFFF"/>
                          </a:solidFill>
                          <a:latin typeface="Arial" pitchFamily="34" charset="0"/>
                          <a:ea typeface="Arial" pitchFamily="34" charset="-122"/>
                          <a:cs typeface="Arial" pitchFamily="34" charset="-120"/>
                        </a:rPr>
                        <a:t>Criterion</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Cisco C9200CX</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Aruba CX 6100</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Aruba CX 6000</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r>
              <a:tr h="329184">
                <a:tc>
                  <a:txBody>
                    <a:bodyPr/>
                    <a:lstStyle/>
                    <a:p>
                      <a:pPr indent="0" marL="0">
                        <a:buNone/>
                      </a:pPr>
                      <a:r>
                        <a:rPr lang="en-US" sz="900" dirty="0">
                          <a:solidFill>
                            <a:srgbClr val="1F2937"/>
                          </a:solidFill>
                          <a:latin typeface="Arial" pitchFamily="34" charset="0"/>
                          <a:ea typeface="Arial" pitchFamily="34" charset="-122"/>
                          <a:cs typeface="Arial" pitchFamily="34" charset="-120"/>
                        </a:rPr>
                        <a:t>Layer role</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Layer 3 capable compact access switch</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Entry-level Layer 2 with static routing</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Entry-level Layer 2 with static routing</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F2937"/>
                          </a:solidFill>
                          <a:latin typeface="Arial" pitchFamily="34" charset="0"/>
                          <a:ea typeface="Arial" pitchFamily="34" charset="-122"/>
                          <a:cs typeface="Arial" pitchFamily="34" charset="-120"/>
                        </a:rPr>
                        <a:t>Dynamic routing</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OSPF / EIGRP / IS-IS / RIP listed in Cisco 9200 datasheet family</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Not shown in reviewed HPE product page; positioning is entry-level L2 + static routing</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Not shown in reviewed HPE product page; positioning is entry-level L2 + static routing</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F2937"/>
                          </a:solidFill>
                          <a:latin typeface="Arial" pitchFamily="34" charset="0"/>
                          <a:ea typeface="Arial" pitchFamily="34" charset="-122"/>
                          <a:cs typeface="Arial" pitchFamily="34" charset="-120"/>
                        </a:rPr>
                        <a:t>Telemetry</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NETCONF / RESTCONF / YANG / streaming telemetry in 9200 family datasheet</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REST API, CLI, Aruba Central, sFlow shown in HPE material</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REST API, CLI, Aruba Central, sFlow shown in HPE material</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F2937"/>
                          </a:solidFill>
                          <a:latin typeface="Arial" pitchFamily="34" charset="0"/>
                          <a:ea typeface="Arial" pitchFamily="34" charset="-122"/>
                          <a:cs typeface="Arial" pitchFamily="34" charset="-120"/>
                        </a:rPr>
                        <a:t>Data-plane encryption</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AES-256 MACsec stated for C9200CX models</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Not shown in reviewed HPE material</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Not shown in reviewed HPE material</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F2937"/>
                          </a:solidFill>
                          <a:latin typeface="Arial" pitchFamily="34" charset="0"/>
                          <a:ea typeface="Arial" pitchFamily="34" charset="-122"/>
                          <a:cs typeface="Arial" pitchFamily="34" charset="-120"/>
                        </a:rPr>
                        <a:t>Stacking / virtualization</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No stacking on C9200CX</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8-member VSF stated by HPE</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No reviewed proof of VSF for selected model</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F2937"/>
                          </a:solidFill>
                          <a:latin typeface="Arial" pitchFamily="34" charset="0"/>
                          <a:ea typeface="Arial" pitchFamily="34" charset="-122"/>
                          <a:cs typeface="Arial" pitchFamily="34" charset="-120"/>
                        </a:rPr>
                        <a:t>PoE per port</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Up to 30W PoE+, and 60W applies to 9200CX mGig/UPOE models, not this 12P model</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Up to 30W Class 4 PoE</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Up to 30W Class 4 PoE</a:t>
                      </a:r>
                      <a:endParaRPr lang="en-US" sz="9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Marine-environment decision points</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Important criteria missing or weakly supported in the original deck.</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sp>
        <p:nvSpPr>
          <p:cNvPr id="5" name="Text 3"/>
          <p:cNvSpPr/>
          <p:nvPr/>
        </p:nvSpPr>
        <p:spPr>
          <a:xfrm>
            <a:off x="640080" y="1325880"/>
            <a:ext cx="10972800" cy="347472"/>
          </a:xfrm>
          <a:prstGeom prst="rect">
            <a:avLst/>
          </a:prstGeom>
          <a:noFill/>
          <a:ln/>
        </p:spPr>
        <p:txBody>
          <a:bodyPr wrap="square" lIns="0" tIns="0" rIns="0" bIns="0" rtlCol="0" anchor="ctr"/>
          <a:lstStyle/>
          <a:p>
            <a:pPr marL="177800" indent="-177800">
              <a:buSzPct val="100000"/>
              <a:buChar char="•"/>
            </a:pPr>
            <a:r>
              <a:rPr lang="en-US" sz="1600" dirty="0">
                <a:solidFill>
                  <a:srgbClr val="1F2937"/>
                </a:solidFill>
                <a:latin typeface="Arial" pitchFamily="34" charset="0"/>
                <a:ea typeface="Arial" pitchFamily="34" charset="-122"/>
                <a:cs typeface="Arial" pitchFamily="34" charset="-120"/>
              </a:rPr>
              <a:t>Marine certification: none of the reviewed Cisco/HPE sources showed IEC 60945, DNV, or similar marine certification for these exact models.</a:t>
            </a:r>
            <a:endParaRPr lang="en-US" sz="1600" dirty="0"/>
          </a:p>
        </p:txBody>
      </p:sp>
      <p:sp>
        <p:nvSpPr>
          <p:cNvPr id="6" name="Text 4"/>
          <p:cNvSpPr/>
          <p:nvPr/>
        </p:nvSpPr>
        <p:spPr>
          <a:xfrm>
            <a:off x="640080" y="1709928"/>
            <a:ext cx="10972800" cy="347472"/>
          </a:xfrm>
          <a:prstGeom prst="rect">
            <a:avLst/>
          </a:prstGeom>
          <a:noFill/>
          <a:ln/>
        </p:spPr>
        <p:txBody>
          <a:bodyPr wrap="square" lIns="0" tIns="0" rIns="0" bIns="0" rtlCol="0" anchor="ctr"/>
          <a:lstStyle/>
          <a:p>
            <a:pPr marL="177800" indent="-177800">
              <a:buSzPct val="100000"/>
              <a:buChar char="•"/>
            </a:pPr>
            <a:r>
              <a:rPr lang="en-US" sz="1600" dirty="0">
                <a:solidFill>
                  <a:srgbClr val="1F2937"/>
                </a:solidFill>
                <a:latin typeface="Arial" pitchFamily="34" charset="0"/>
                <a:ea typeface="Arial" pitchFamily="34" charset="-122"/>
                <a:cs typeface="Arial" pitchFamily="34" charset="-120"/>
              </a:rPr>
              <a:t>Salt fog / corrosion: no reviewed vendor source exposed salt-spray compliance for these exact models. Treat as open risk until vendor confirms.</a:t>
            </a:r>
            <a:endParaRPr lang="en-US" sz="1600" dirty="0"/>
          </a:p>
        </p:txBody>
      </p:sp>
      <p:sp>
        <p:nvSpPr>
          <p:cNvPr id="7" name="Text 5"/>
          <p:cNvSpPr/>
          <p:nvPr/>
        </p:nvSpPr>
        <p:spPr>
          <a:xfrm>
            <a:off x="640080" y="2093976"/>
            <a:ext cx="10972800" cy="347472"/>
          </a:xfrm>
          <a:prstGeom prst="rect">
            <a:avLst/>
          </a:prstGeom>
          <a:noFill/>
          <a:ln/>
        </p:spPr>
        <p:txBody>
          <a:bodyPr wrap="square" lIns="0" tIns="0" rIns="0" bIns="0" rtlCol="0" anchor="ctr"/>
          <a:lstStyle/>
          <a:p>
            <a:pPr marL="177800" indent="-177800">
              <a:buSzPct val="100000"/>
              <a:buChar char="•"/>
            </a:pPr>
            <a:r>
              <a:rPr lang="en-US" sz="1600" dirty="0">
                <a:solidFill>
                  <a:srgbClr val="1F2937"/>
                </a:solidFill>
                <a:latin typeface="Arial" pitchFamily="34" charset="0"/>
                <a:ea typeface="Arial" pitchFamily="34" charset="-122"/>
                <a:cs typeface="Arial" pitchFamily="34" charset="-120"/>
              </a:rPr>
              <a:t>Shock / vibration: no reviewed official source exposed marine shock/vibration compliance for these exact models.</a:t>
            </a:r>
            <a:endParaRPr lang="en-US" sz="1600" dirty="0"/>
          </a:p>
        </p:txBody>
      </p:sp>
      <p:sp>
        <p:nvSpPr>
          <p:cNvPr id="8" name="Text 6"/>
          <p:cNvSpPr/>
          <p:nvPr/>
        </p:nvSpPr>
        <p:spPr>
          <a:xfrm>
            <a:off x="640080" y="2478024"/>
            <a:ext cx="10972800" cy="347472"/>
          </a:xfrm>
          <a:prstGeom prst="rect">
            <a:avLst/>
          </a:prstGeom>
          <a:noFill/>
          <a:ln/>
        </p:spPr>
        <p:txBody>
          <a:bodyPr wrap="square" lIns="0" tIns="0" rIns="0" bIns="0" rtlCol="0" anchor="ctr"/>
          <a:lstStyle/>
          <a:p>
            <a:pPr marL="177800" indent="-177800">
              <a:buSzPct val="100000"/>
              <a:buChar char="•"/>
            </a:pPr>
            <a:r>
              <a:rPr lang="en-US" sz="1600" dirty="0">
                <a:solidFill>
                  <a:srgbClr val="1F2937"/>
                </a:solidFill>
                <a:latin typeface="Arial" pitchFamily="34" charset="0"/>
                <a:ea typeface="Arial" pitchFamily="34" charset="-122"/>
                <a:cs typeface="Arial" pitchFamily="34" charset="-120"/>
              </a:rPr>
              <a:t>Operating temperature: Cisco reviewed source shows -5 to 45°C for C9200CX; Aruba reviewed sources position the products as commercial campus/branch access switches.</a:t>
            </a:r>
            <a:endParaRPr lang="en-US" sz="1600" dirty="0"/>
          </a:p>
        </p:txBody>
      </p:sp>
      <p:sp>
        <p:nvSpPr>
          <p:cNvPr id="9" name="Text 7"/>
          <p:cNvSpPr/>
          <p:nvPr/>
        </p:nvSpPr>
        <p:spPr>
          <a:xfrm>
            <a:off x="640080" y="2862072"/>
            <a:ext cx="10972800" cy="347472"/>
          </a:xfrm>
          <a:prstGeom prst="rect">
            <a:avLst/>
          </a:prstGeom>
          <a:noFill/>
          <a:ln/>
        </p:spPr>
        <p:txBody>
          <a:bodyPr wrap="square" lIns="0" tIns="0" rIns="0" bIns="0" rtlCol="0" anchor="ctr"/>
          <a:lstStyle/>
          <a:p>
            <a:pPr marL="177800" indent="-177800">
              <a:buSzPct val="100000"/>
              <a:buChar char="•"/>
            </a:pPr>
            <a:r>
              <a:rPr lang="en-US" sz="1600" dirty="0">
                <a:solidFill>
                  <a:srgbClr val="1F2937"/>
                </a:solidFill>
                <a:latin typeface="Arial" pitchFamily="34" charset="0"/>
                <a:ea typeface="Arial" pitchFamily="34" charset="-122"/>
                <a:cs typeface="Arial" pitchFamily="34" charset="-120"/>
              </a:rPr>
              <a:t>MTBF: Cisco family documentation contains MTBF sections; Aruba public product pages reviewed here did not give an MTBF value for the selected models.</a:t>
            </a:r>
            <a:endParaRPr lang="en-US" sz="1600" dirty="0"/>
          </a:p>
        </p:txBody>
      </p:sp>
      <p:sp>
        <p:nvSpPr>
          <p:cNvPr id="10" name="Text 8"/>
          <p:cNvSpPr/>
          <p:nvPr/>
        </p:nvSpPr>
        <p:spPr>
          <a:xfrm>
            <a:off x="640080" y="3246120"/>
            <a:ext cx="10972800" cy="347472"/>
          </a:xfrm>
          <a:prstGeom prst="rect">
            <a:avLst/>
          </a:prstGeom>
          <a:noFill/>
          <a:ln/>
        </p:spPr>
        <p:txBody>
          <a:bodyPr wrap="square" lIns="0" tIns="0" rIns="0" bIns="0" rtlCol="0" anchor="ctr"/>
          <a:lstStyle/>
          <a:p>
            <a:pPr marL="177800" indent="-177800">
              <a:buSzPct val="100000"/>
              <a:buChar char="•"/>
            </a:pPr>
            <a:r>
              <a:rPr lang="en-US" sz="1600" dirty="0">
                <a:solidFill>
                  <a:srgbClr val="1F2937"/>
                </a:solidFill>
                <a:latin typeface="Arial" pitchFamily="34" charset="0"/>
                <a:ea typeface="Arial" pitchFamily="34" charset="-122"/>
                <a:cs typeface="Arial" pitchFamily="34" charset="-120"/>
              </a:rPr>
              <a:t>Stacking impact at 2,000-2,500 units per ship: Aruba CX 6100 VSF can reduce management objects; Cisco compact model cannot stack.</a:t>
            </a:r>
            <a:endParaRPr lang="en-US" sz="1600" dirty="0"/>
          </a:p>
        </p:txBody>
      </p:sp>
      <p:sp>
        <p:nvSpPr>
          <p:cNvPr id="11" name="Shape 9"/>
          <p:cNvSpPr/>
          <p:nvPr/>
        </p:nvSpPr>
        <p:spPr>
          <a:xfrm>
            <a:off x="685800" y="5257800"/>
            <a:ext cx="10789920" cy="822960"/>
          </a:xfrm>
          <a:prstGeom prst="roundRect">
            <a:avLst>
              <a:gd name="adj" fmla="val 4444"/>
            </a:avLst>
          </a:prstGeom>
          <a:solidFill>
            <a:srgbClr val="FFF8E6"/>
          </a:solidFill>
          <a:ln w="12700">
            <a:solidFill>
              <a:srgbClr val="E5C66D"/>
            </a:solidFill>
            <a:prstDash val="solid"/>
          </a:ln>
        </p:spPr>
      </p:sp>
      <p:sp>
        <p:nvSpPr>
          <p:cNvPr id="12" name="Text 10"/>
          <p:cNvSpPr/>
          <p:nvPr/>
        </p:nvSpPr>
        <p:spPr>
          <a:xfrm>
            <a:off x="914400" y="5504688"/>
            <a:ext cx="10332720" cy="274320"/>
          </a:xfrm>
          <a:prstGeom prst="rect">
            <a:avLst/>
          </a:prstGeom>
          <a:noFill/>
          <a:ln/>
        </p:spPr>
        <p:txBody>
          <a:bodyPr wrap="square" rtlCol="0" anchor="ctr"/>
          <a:lstStyle/>
          <a:p>
            <a:pPr algn="ctr" indent="0" marL="0">
              <a:buNone/>
            </a:pPr>
            <a:r>
              <a:rPr lang="en-US" sz="1600" b="1" dirty="0">
                <a:solidFill>
                  <a:srgbClr val="B7791F"/>
                </a:solidFill>
              </a:rPr>
              <a:t>Procurement note: if marine compliance is mandatory, request written vendor evidence for vibration, corrosion, humidity, MTBF, and coating before final selection.</a:t>
            </a:r>
            <a:endParaRPr lang="en-US" sz="1600" dirty="0"/>
          </a:p>
        </p:txBody>
      </p:sp>
      <p:sp>
        <p:nvSpPr>
          <p:cNvPr id="13" name="Text 11"/>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Recommendation matrix</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Neutral recommendation after correcting unsupported claims.</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11247120" cy="914400"/>
        </p:xfrm>
        <a:graphic>
          <a:graphicData uri="http://schemas.openxmlformats.org/drawingml/2006/table">
            <a:tbl>
              <a:tblPr/>
              <a:tblGrid>
                <a:gridCol w="3474720"/>
                <a:gridCol w="2468880"/>
                <a:gridCol w="530352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Scenario</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Recommended model</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Why</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F2747"/>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Need 10G uplinks and lowest practical Aruba replacement weight</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Aruba CX 6100 JL679A</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Keeps 10G-capable uplinks and lowers weight vs Cisco.</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Need higher PoE budget or richer campus feature set</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Cisco C9200CX-12P-2X2G-E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240W PoE, Cisco 9200 family programmability, and reviewed MACsec support.</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Need 1G-only access with lowest cost among compared models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Aruba CX 6000 R8N89A</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Viable only if 1G uplinks and simpler L2/static-routing profile are acceptable.</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Need management-plane consolidation across many edge switches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Aruba CX 6100 JL679A</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Reviewed HPE material states 8-member VSF support; Cisco compact model does not stack.</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F2937"/>
                          </a:solidFill>
                          <a:latin typeface="Arial" pitchFamily="34" charset="0"/>
                          <a:ea typeface="Arial" pitchFamily="34" charset="-122"/>
                          <a:cs typeface="Arial" pitchFamily="34" charset="-120"/>
                        </a:rPr>
                        <a:t>Need marine-certified platform</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 validated winner</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None of the reviewed sources proved marine certification for these exact switches.</a:t>
                      </a:r>
                      <a:endParaRPr lang="en-US" sz="1000" dirty="0">
                        <a:latin typeface="Arial" charset="0"/>
                        <a:ea typeface="Arial" charset="0"/>
                        <a:cs typeface="Arial" charset="0"/>
                      </a:endParaRPr>
                    </a:p>
                  </a:txBody>
                  <a:tcPr marL="45720" marR="45720" marT="45720" marB="45720"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1247120" cy="457200"/>
          </a:xfrm>
          <a:prstGeom prst="rect">
            <a:avLst/>
          </a:prstGeom>
          <a:noFill/>
          <a:ln/>
        </p:spPr>
        <p:txBody>
          <a:bodyPr wrap="square" rtlCol="0" anchor="ctr"/>
          <a:lstStyle/>
          <a:p>
            <a:pPr indent="0" marL="0">
              <a:buNone/>
            </a:pPr>
            <a:r>
              <a:rPr lang="en-US" sz="2600" b="1" dirty="0">
                <a:solidFill>
                  <a:srgbClr val="0F2747"/>
                </a:solidFill>
                <a:latin typeface="Arial" pitchFamily="34" charset="0"/>
                <a:ea typeface="Arial" pitchFamily="34" charset="-122"/>
                <a:cs typeface="Arial" pitchFamily="34" charset="-120"/>
              </a:rPr>
              <a:t>Primary sources reviewed</a:t>
            </a:r>
            <a:endParaRPr lang="en-US" sz="2600" dirty="0"/>
          </a:p>
        </p:txBody>
      </p:sp>
      <p:sp>
        <p:nvSpPr>
          <p:cNvPr id="3" name="Text 1"/>
          <p:cNvSpPr/>
          <p:nvPr/>
        </p:nvSpPr>
        <p:spPr>
          <a:xfrm>
            <a:off x="457200" y="777240"/>
            <a:ext cx="1124712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Use these links as the evidence set behind the corrected deck.</a:t>
            </a:r>
            <a:endParaRPr lang="en-US" sz="1100" dirty="0"/>
          </a:p>
        </p:txBody>
      </p:sp>
      <p:sp>
        <p:nvSpPr>
          <p:cNvPr id="4" name="Shape 2"/>
          <p:cNvSpPr/>
          <p:nvPr/>
        </p:nvSpPr>
        <p:spPr>
          <a:xfrm>
            <a:off x="457200" y="1078992"/>
            <a:ext cx="11247120" cy="0"/>
          </a:xfrm>
          <a:prstGeom prst="line">
            <a:avLst/>
          </a:prstGeom>
          <a:noFill/>
          <a:ln w="12700">
            <a:solidFill>
              <a:srgbClr val="D1D5DB"/>
            </a:solidFill>
            <a:prstDash val="solid"/>
          </a:ln>
        </p:spPr>
      </p:sp>
      <p:sp>
        <p:nvSpPr>
          <p:cNvPr id="5" name="Text 3"/>
          <p:cNvSpPr/>
          <p:nvPr/>
        </p:nvSpPr>
        <p:spPr>
          <a:xfrm>
            <a:off x="731520" y="1417320"/>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Cisco Catalyst 9200 Series Data Sheet: cisco.com/.../nb-06-cat9200-ser-data-sheet-cte-en.html</a:t>
            </a:r>
            <a:endParaRPr lang="en-US" sz="1700" dirty="0"/>
          </a:p>
        </p:txBody>
      </p:sp>
      <p:sp>
        <p:nvSpPr>
          <p:cNvPr id="6" name="Text 4"/>
          <p:cNvSpPr/>
          <p:nvPr/>
        </p:nvSpPr>
        <p:spPr>
          <a:xfrm>
            <a:off x="731520" y="1801368"/>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HPE Store — Aruba CX 6100 JL679A product page: buy.hpe.com/.../jl679a</a:t>
            </a:r>
            <a:endParaRPr lang="en-US" sz="1700" dirty="0"/>
          </a:p>
        </p:txBody>
      </p:sp>
      <p:sp>
        <p:nvSpPr>
          <p:cNvPr id="7" name="Text 5"/>
          <p:cNvSpPr/>
          <p:nvPr/>
        </p:nvSpPr>
        <p:spPr>
          <a:xfrm>
            <a:off x="731520" y="2185416"/>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HPE Store — Aruba CX 6000 R8N89A product page: buy.hpe.com/.../r8n89a</a:t>
            </a:r>
            <a:endParaRPr lang="en-US" sz="1700" dirty="0"/>
          </a:p>
        </p:txBody>
      </p:sp>
      <p:sp>
        <p:nvSpPr>
          <p:cNvPr id="8" name="Text 6"/>
          <p:cNvSpPr/>
          <p:nvPr/>
        </p:nvSpPr>
        <p:spPr>
          <a:xfrm>
            <a:off x="731520" y="2569464"/>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HPE Aruba Networking CX 6100 Switch Series data sheet: hpe.com/psnow/doc/a00106853enw</a:t>
            </a:r>
            <a:endParaRPr lang="en-US" sz="1700" dirty="0"/>
          </a:p>
        </p:txBody>
      </p:sp>
      <p:sp>
        <p:nvSpPr>
          <p:cNvPr id="9" name="Text 7"/>
          <p:cNvSpPr/>
          <p:nvPr/>
        </p:nvSpPr>
        <p:spPr>
          <a:xfrm>
            <a:off x="731520" y="2953512"/>
            <a:ext cx="10698480" cy="347472"/>
          </a:xfrm>
          <a:prstGeom prst="rect">
            <a:avLst/>
          </a:prstGeom>
          <a:noFill/>
          <a:ln/>
        </p:spPr>
        <p:txBody>
          <a:bodyPr wrap="square" lIns="0" tIns="0" rIns="0" bIns="0" rtlCol="0" anchor="ctr"/>
          <a:lstStyle/>
          <a:p>
            <a:pPr marL="177800" indent="-177800">
              <a:buSzPct val="100000"/>
              <a:buChar char="•"/>
            </a:pPr>
            <a:r>
              <a:rPr lang="en-US" sz="1700" dirty="0">
                <a:solidFill>
                  <a:srgbClr val="1F2937"/>
                </a:solidFill>
                <a:latin typeface="Arial" pitchFamily="34" charset="0"/>
                <a:ea typeface="Arial" pitchFamily="34" charset="-122"/>
                <a:cs typeface="Arial" pitchFamily="34" charset="-120"/>
              </a:rPr>
              <a:t>HPE Aruba Networking CX 6000 Switch Series data sheet: hpe.com/psnow/doc/a00112996enw</a:t>
            </a:r>
            <a:endParaRPr lang="en-US" sz="1700" dirty="0"/>
          </a:p>
        </p:txBody>
      </p:sp>
      <p:sp>
        <p:nvSpPr>
          <p:cNvPr id="10" name="Shape 8"/>
          <p:cNvSpPr/>
          <p:nvPr/>
        </p:nvSpPr>
        <p:spPr>
          <a:xfrm>
            <a:off x="731520" y="4206240"/>
            <a:ext cx="10789920" cy="1097280"/>
          </a:xfrm>
          <a:prstGeom prst="roundRect">
            <a:avLst>
              <a:gd name="adj" fmla="val 3333"/>
            </a:avLst>
          </a:prstGeom>
          <a:solidFill>
            <a:srgbClr val="F3F6FB"/>
          </a:solidFill>
          <a:ln w="12700">
            <a:solidFill>
              <a:srgbClr val="D1D5DB"/>
            </a:solidFill>
            <a:prstDash val="solid"/>
          </a:ln>
        </p:spPr>
      </p:sp>
      <p:sp>
        <p:nvSpPr>
          <p:cNvPr id="11" name="Text 9"/>
          <p:cNvSpPr/>
          <p:nvPr/>
        </p:nvSpPr>
        <p:spPr>
          <a:xfrm>
            <a:off x="914400" y="4526280"/>
            <a:ext cx="10424160" cy="548640"/>
          </a:xfrm>
          <a:prstGeom prst="rect">
            <a:avLst/>
          </a:prstGeom>
          <a:noFill/>
          <a:ln/>
        </p:spPr>
        <p:txBody>
          <a:bodyPr wrap="square" rtlCol="0" anchor="ctr"/>
          <a:lstStyle/>
          <a:p>
            <a:pPr algn="ctr" indent="0" marL="0">
              <a:buNone/>
            </a:pPr>
            <a:r>
              <a:rPr lang="en-US" sz="1600" b="1" dirty="0">
                <a:solidFill>
                  <a:srgbClr val="1F2937"/>
                </a:solidFill>
              </a:rPr>
              <a:t>Methodology: unsupported marketing claims and community opinions were excluded from the final recommendation unless backed by vendor material. Where evidence was incomplete, the slide deck now says “not validated” instead of guessing.</a:t>
            </a:r>
            <a:endParaRPr lang="en-US" sz="1600" dirty="0"/>
          </a:p>
        </p:txBody>
      </p:sp>
      <p:sp>
        <p:nvSpPr>
          <p:cNvPr id="12" name="Text 10"/>
          <p:cNvSpPr/>
          <p:nvPr/>
        </p:nvSpPr>
        <p:spPr>
          <a:xfrm>
            <a:off x="10515600" y="6400800"/>
            <a:ext cx="914400" cy="182880"/>
          </a:xfrm>
          <a:prstGeom prst="rect">
            <a:avLst/>
          </a:prstGeom>
          <a:noFill/>
          <a:ln/>
        </p:spPr>
        <p:txBody>
          <a:bodyPr wrap="square" rtlCol="0" anchor="ctr"/>
          <a:lstStyle/>
          <a:p>
            <a:pPr algn="r" indent="0" marL="0">
              <a:buNone/>
            </a:pPr>
            <a:r>
              <a:rPr lang="en-US" sz="800" dirty="0">
                <a:solidFill>
                  <a:srgbClr val="6B7280"/>
                </a:solidFill>
              </a:rPr>
              <a:t>Validated comparison | 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OpenCode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Validated Cisco C9200CX vs Aruba CX 6100 / CX 6000</dc:title>
  <dc:subject>Validated switch comparison</dc:subject>
  <dc:creator>OpenCode / Sisyphus</dc:creator>
  <cp:lastModifiedBy>OpenCode / Sisyphus</cp:lastModifiedBy>
  <cp:revision>1</cp:revision>
  <dcterms:created xsi:type="dcterms:W3CDTF">2026-03-24T15:46:39Z</dcterms:created>
  <dcterms:modified xsi:type="dcterms:W3CDTF">2026-03-24T15:46:39Z</dcterms:modified>
</cp:coreProperties>
</file>